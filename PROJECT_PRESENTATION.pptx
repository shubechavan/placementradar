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7" r:id="rId2"/>
    <p:sldId id="278" r:id="rId12"/>
    <p:sldId id="279" r:id="rId13"/>
    <p:sldId id="280" r:id="rId14"/>
    <p:sldId id="281" r:id="rId15"/>
    <p:sldId id="282" r:id="rId16"/>
    <p:sldId id="283" r:id="rId17"/>
    <p:sldId id="284" r:id="rId18"/>
    <p:sldId id="285" r:id="rId19"/>
    <p:sldId id="286" r:id="rId20"/>
    <p:sldId id="287" r:id="rId21"/>
    <p:sldId id="276"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ell"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595B"/>
    <a:srgbClr val="B7202E"/>
    <a:srgbClr val="B7242A"/>
    <a:srgbClr val="B6202E"/>
    <a:srgbClr val="ED1C24"/>
    <a:srgbClr val="231F20"/>
    <a:srgbClr val="FFCB05"/>
    <a:srgbClr val="B5202E"/>
    <a:srgbClr val="603312"/>
    <a:srgbClr val="F582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p:cViewPr varScale="1">
        <p:scale>
          <a:sx n="31" d="100"/>
          <a:sy n="31" d="100"/>
        </p:scale>
        <p:origin x="624"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868" y="-90"/>
      </p:cViewPr>
      <p:guideLst>
        <p:guide orient="horz" pos="2880"/>
        <p:guide pos="2160"/>
      </p:guideLst>
    </p:cSldViewPr>
  </p:notesViewPr>
  <p:gridSpacing cx="76200" cy="76200"/>
</p:viewPr>
</file>

<file path=ppt/_rels/presentation.xml.rels><?xml version="1.0" encoding="utf-8"?><Relationships xmlns="http://schemas.openxmlformats.org/package/2006/relationships"><Relationship Id="rId8" Type="http://schemas.openxmlformats.org/officeDocument/2006/relationships/presProps" Target="presProps.xml"/><Relationship Id="rId7" Type="http://schemas.openxmlformats.org/officeDocument/2006/relationships/commentAuthors" Target="commen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  <Relationship Id="rId12" Type="http://schemas.openxmlformats.org/officeDocument/2006/relationships/slide" Target="slides/slide4.xml"/>
  <Relationship Id="rId13" Type="http://schemas.openxmlformats.org/officeDocument/2006/relationships/slide" Target="slides/slide5.xml"/>
  <Relationship Id="rId14" Type="http://schemas.openxmlformats.org/officeDocument/2006/relationships/slide" Target="slides/slide6.xml"/>
  <Relationship Id="rId15" Type="http://schemas.openxmlformats.org/officeDocument/2006/relationships/slide" Target="slides/slide7.xml"/>
  <Relationship Id="rId16" Type="http://schemas.openxmlformats.org/officeDocument/2006/relationships/slide" Target="slides/slide8.xml"/>
  <Relationship Id="rId17" Type="http://schemas.openxmlformats.org/officeDocument/2006/relationships/slide" Target="slides/slide9.xml"/>
  <Relationship Id="rId18" Type="http://schemas.openxmlformats.org/officeDocument/2006/relationships/slide" Target="slides/slide10.xml"/>
  <Relationship Id="rId19" Type="http://schemas.openxmlformats.org/officeDocument/2006/relationships/slide" Target="slides/slide11.xml"/>
  <Relationship Id="rId20" Type="http://schemas.openxmlformats.org/officeDocument/2006/relationships/slide" Target="slides/slide12.xml"/>
  <Relationship Id="rId21" Type="http://schemas.openxmlformats.org/officeDocument/2006/relationships/slide" Target="slides/slide13.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First draft, 25 Sep</c:v>
                </c:pt>
              </c:strCache>
            </c:strRef>
          </c:tx>
          <c:spPr>
            <a:solidFill>
              <a:srgbClr val="A6A6A6"/>
            </a:solidFill>
            <a:effectLst/>
          </c:spPr>
          <c:invertIfNegative val="0"/>
          <c:dLbls>
            <c:numFmt formatCode="#,##0" sourceLinked="0"/>
            <c:txPr>
              <a:bodyPr/>
              <a:lstStyle/>
              <a:p>
                <a:pPr>
                  <a:defRPr b="0" i="0" strike="noStrike" sz="1200" u="none">
                    <a:solidFill>
                      <a:srgbClr val="231F20"/>
                    </a:solidFill>
                    <a:latin typeface="+mn-lt"/>
                  </a:defRPr>
                </a:pPr>
              </a:p>
            </c:txPr>
            <c:showLegendKey val="0"/>
            <c:showVal val="1"/>
            <c:showCatName val="0"/>
            <c:showSerName val="0"/>
            <c:showPercent val="0"/>
            <c:showBubbleSize val="0"/>
            <c:showLeaderLines val="0"/>
          </c:dLbls>
          <c:cat>
            <c:multiLvlStrRef>
              <c:f>Sheet1!$A$2:$A$5</c:f>
              <c:multiLvlStrCache>
                <c:ptCount val="4"/>
                <c:lvl>
                  <c:pt idx="0">
                    <c:v>Companies</c:v>
                  </c:pt>
                  <c:pt idx="1">
                    <c:v>Contacts</c:v>
                  </c:pt>
                  <c:pt idx="2">
                    <c:v>Emails</c:v>
                  </c:pt>
                  <c:pt idx="3">
                    <c:v>Usable contacts</c:v>
                  </c:pt>
                </c:lvl>
              </c:multiLvlStrCache>
            </c:multiLvlStrRef>
          </c:cat>
          <c:val>
            <c:numRef>
              <c:f>Sheet1!$B$2:$B$5</c:f>
              <c:numCache>
                <c:formatCode>General</c:formatCode>
                <c:ptCount val="4"/>
                <c:pt idx="0">
                  <c:v>314</c:v>
                </c:pt>
                <c:pt idx="1">
                  <c:v>501</c:v>
                </c:pt>
                <c:pt idx="2">
                  <c:v>223</c:v>
                </c:pt>
                <c:pt idx="3">
                  <c:v>407</c:v>
                </c:pt>
              </c:numCache>
            </c:numRef>
          </c:val>
        </c:ser>
        <c:ser>
          <c:idx val="1"/>
          <c:order val="1"/>
          <c:tx>
            <c:strRef>
              <c:f>Sheet1!$C$1</c:f>
              <c:strCache>
                <c:ptCount val="1"/>
                <c:pt idx="0">
                  <c:v>Final, 25 Oct</c:v>
                </c:pt>
              </c:strCache>
            </c:strRef>
          </c:tx>
          <c:spPr>
            <a:solidFill>
              <a:srgbClr val="B7202E"/>
            </a:solidFill>
            <a:effectLst/>
          </c:spPr>
          <c:invertIfNegative val="0"/>
          <c:dLbls>
            <c:numFmt formatCode="#,##0" sourceLinked="0"/>
            <c:txPr>
              <a:bodyPr/>
              <a:lstStyle/>
              <a:p>
                <a:pPr>
                  <a:defRPr b="0" i="0" strike="noStrike" sz="1200" u="none">
                    <a:solidFill>
                      <a:srgbClr val="231F20"/>
                    </a:solidFill>
                    <a:latin typeface="+mn-lt"/>
                  </a:defRPr>
                </a:pPr>
              </a:p>
            </c:txPr>
            <c:showLegendKey val="0"/>
            <c:showVal val="1"/>
            <c:showCatName val="0"/>
            <c:showSerName val="0"/>
            <c:showPercent val="0"/>
            <c:showBubbleSize val="0"/>
            <c:showLeaderLines val="0"/>
          </c:dLbls>
          <c:cat>
            <c:multiLvlStrRef>
              <c:f>Sheet1!$A$2:$A$5</c:f>
              <c:multiLvlStrCache>
                <c:ptCount val="4"/>
                <c:lvl>
                  <c:pt idx="0">
                    <c:v>Companies</c:v>
                  </c:pt>
                  <c:pt idx="1">
                    <c:v>Contacts</c:v>
                  </c:pt>
                  <c:pt idx="2">
                    <c:v>Emails</c:v>
                  </c:pt>
                  <c:pt idx="3">
                    <c:v>Usable contacts</c:v>
                  </c:pt>
                </c:lvl>
              </c:multiLvlStrCache>
            </c:multiLvlStrRef>
          </c:cat>
          <c:val>
            <c:numRef>
              <c:f>Sheet1!$C$2:$C$5</c:f>
              <c:numCache>
                <c:formatCode>General</c:formatCode>
                <c:ptCount val="4"/>
                <c:pt idx="0">
                  <c:v>1732</c:v>
                </c:pt>
                <c:pt idx="1">
                  <c:v>2324</c:v>
                </c:pt>
                <c:pt idx="2">
                  <c:v>2046</c:v>
                </c:pt>
                <c:pt idx="3">
                  <c:v>2181</c:v>
                </c:pt>
              </c:numCache>
            </c:numRef>
          </c:val>
        </c:ser>
        <c:dLbls>
          <c:numFmt formatCode="#,##0" sourceLinked="0"/>
          <c:txPr>
            <a:bodyPr/>
            <a:lstStyle/>
            <a:p>
              <a:pPr>
                <a:defRPr b="0" i="0" strike="noStrike" sz="1200" u="none">
                  <a:solidFill>
                    <a:srgbClr val="231F2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31F2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231F2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31F20"/>
                </a:solidFill>
                <a:latin typeface="+mn-lt"/>
              </a:defRPr>
            </a:pPr>
            <a:r>
              <a:rPr sz="1400" b="0" i="0" u="none" strike="noStrike">
                <a:solidFill>
                  <a:srgbClr val="231F20"/>
                </a:solidFill>
                <a:latin typeface="+mn-lt"/>
              </a:rPr>
              <a:t>Companies with a confirmed website</a:t>
            </a:r>
          </a:p>
        </c:rich>
      </c:tx>
      <c:layout/>
      <c:overlay val="0"/>
    </c:title>
    <c:autoTitleDeleted val="0"/>
    <c:plotArea>
      <c:layout/>
      <c:barChart>
        <c:barDir val="col"/>
        <c:grouping val="clustered"/>
        <c:varyColors val="0"/>
        <c:ser>
          <c:idx val="0"/>
          <c:order val="0"/>
          <c:tx>
            <c:strRef>
              <c:f>Sheet1!$B$1</c:f>
              <c:strCache>
                <c:ptCount val="1"/>
                <c:pt idx="0">
                  <c:v>Companies with a confirmed website</c:v>
                </c:pt>
              </c:strCache>
            </c:strRef>
          </c:tx>
          <c:spPr>
            <a:solidFill>
              <a:srgbClr val="B7202E"/>
            </a:solidFill>
            <a:effectLst/>
          </c:spPr>
          <c:invertIfNegative val="0"/>
          <c:dLbls>
            <c:numFmt formatCode="0.0&quot;%&quot;" sourceLinked="0"/>
            <c:txPr>
              <a:bodyPr/>
              <a:lstStyle/>
              <a:p>
                <a:pPr>
                  <a:defRPr b="0" i="0" strike="noStrike" sz="1400" u="none">
                    <a:solidFill>
                      <a:srgbClr val="231F20"/>
                    </a:solidFill>
                    <a:latin typeface="+mn-lt"/>
                  </a:defRPr>
                </a:pPr>
              </a:p>
            </c:txPr>
            <c:showLegendKey val="0"/>
            <c:showVal val="1"/>
            <c:showCatName val="0"/>
            <c:showSerName val="0"/>
            <c:showPercent val="0"/>
            <c:showBubbleSize val="0"/>
            <c:showLeaderLines val="0"/>
          </c:dLbls>
          <c:cat>
            <c:multiLvlStrRef>
              <c:f>Sheet1!$A$2:$A$4</c:f>
              <c:multiLvlStrCache>
                <c:ptCount val="3"/>
                <c:lvl>
                  <c:pt idx="0">
                    <c:v>Start</c:v>
                  </c:pt>
                  <c:pt idx="1">
                    <c:v>Automated matching</c:v>
                  </c:pt>
                  <c:pt idx="2">
                    <c:v>After human review</c:v>
                  </c:pt>
                </c:lvl>
              </c:multiLvlStrCache>
            </c:multiLvlStrRef>
          </c:cat>
          <c:val>
            <c:numRef>
              <c:f>Sheet1!$B$2:$B$4</c:f>
              <c:numCache>
                <c:formatCode>General</c:formatCode>
                <c:ptCount val="3"/>
                <c:pt idx="0">
                  <c:v>21.2</c:v>
                </c:pt>
                <c:pt idx="1">
                  <c:v>53.3</c:v>
                </c:pt>
                <c:pt idx="2">
                  <c:v>61.4</c:v>
                </c:pt>
              </c:numCache>
            </c:numRef>
          </c:val>
        </c:ser>
        <c:dLbls>
          <c:numFmt formatCode="0.0&quot;%&quot;" sourceLinked="0"/>
          <c:txPr>
            <a:bodyPr/>
            <a:lstStyle/>
            <a:p>
              <a:pPr>
                <a:defRPr b="0" i="0" strike="noStrike" sz="1400" u="none">
                  <a:solidFill>
                    <a:srgbClr val="231F2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31F20"/>
                </a:solidFill>
                <a:latin typeface="+mn-lt"/>
              </a:defRPr>
            </a:pPr>
            <a:endParaRPr lang="en-US"/>
          </a:p>
        </c:txPr>
        <c:crossAx val="2094734552"/>
        <c:crosses val="autoZero"/>
        <c:auto val="1"/>
        <c:lblAlgn val="ctr"/>
        <c:noMultiLvlLbl val="1"/>
      </c:catAx>
      <c:valAx>
        <c:axId val="2094734552"/>
        <c:scaling>
          <c:orientation val="minMax"/>
          <c:max val="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2429E15-13B4-4F06-868B-150720423955}" type="datetimeFigureOut">
              <a:rPr lang="en-US" smtClean="0"/>
              <a:t>8/26/2024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18FD6E2-E41B-49CA-8B5B-7ECA25710946}" type="slidenum">
              <a:rPr lang="en-US" smtClean="0"/>
              <a:t>‹#›</a:t>
            </a:fld>
            <a:endParaRPr lang="en-US"/>
          </a:p>
        </p:txBody>
      </p:sp>
    </p:spTree>
    <p:extLst>
      <p:ext uri="{BB962C8B-B14F-4D97-AF65-F5344CB8AC3E}">
        <p14:creationId xmlns:p14="http://schemas.microsoft.com/office/powerpoint/2010/main" val="3538838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776302-E70E-492D-90ED-C42903430BD7}" type="datetimeFigureOut">
              <a:rPr lang="en-US" smtClean="0"/>
              <a:t>8/26/2024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3F5E98-26F4-40A6-B719-BC904029A85E}" type="slidenum">
              <a:rPr lang="en-US" smtClean="0"/>
              <a:t>‹#›</a:t>
            </a:fld>
            <a:endParaRPr lang="en-US"/>
          </a:p>
        </p:txBody>
      </p:sp>
    </p:spTree>
    <p:extLst>
      <p:ext uri="{BB962C8B-B14F-4D97-AF65-F5344CB8AC3E}">
        <p14:creationId xmlns:p14="http://schemas.microsoft.com/office/powerpoint/2010/main" val="201402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Shubham. My project is PlacementRadar, built for the people on our placement committee who spend their evenings looking for HR contacts.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can answer questions or open the app and walk through the Today page and the pipeline.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placement work is basically a sales funnel run by volunteers. Five minutes per company sounds small until it is three hundred companies. And when I checked my first batch of contacts, almost a quarter were filed under the wrong employer.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The second one matters most: before trusting anything about a company, the tool confirms its real website. And it runs entirely on free tiers, which matters for a college.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to a Flask API. When someone runs a search, the API hands it to a GitHub Actions worker that scrapes and saves straight into MongoDB. Login accounts are kept in a separate database from the job data.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the project. Each of these checks exists because of a real mistake I found: three different companies called Genesis, two look-alike domains, and the word Private matching one company to another's contacts.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last month: 314 companies became 1,732, and 501 contacts became 2,324. 2,181 are ranked good enough to use. Almost every email passes a live mail-server check, and most contacts name an actual person.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matching more than doubled the companies with a confirmed website, and human review took it to 61 percent. I also tested every job board: only 7 of 23 still work, and simply changing the default boards tripled what a search finds.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page a member opens. Follow-ups due, then the next companies to call, best contacts first. Logging an outcome takes the row off the list. I've hidden all contact details in these screenshots.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Committee members make calls from their phones, between classes, so the whole app works on a phone. The pipeline is shared, and ownership stops two people calling the same company in the same week.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had to keep one lesson: totals lie. Every serious bug I found only showed up when I read individual records. So each fix added a check to the pipeline itself instead of trusting the summary numbers.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what isn't finished. Most job boards now block scrapers, and the phone directories are blocked. The next big step is adding office numbers from OpenStreetMap, then the alumni list.</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8" name="Rectangle 7"/>
          <p:cNvSpPr/>
          <p:nvPr userDrawn="1"/>
        </p:nvSpPr>
        <p:spPr>
          <a:xfrm>
            <a:off x="0" y="2362200"/>
            <a:ext cx="609600" cy="4495799"/>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userDrawn="1"/>
        </p:nvSpPr>
        <p:spPr>
          <a:xfrm>
            <a:off x="3810001" y="6553201"/>
            <a:ext cx="2411756" cy="304798"/>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1" name="Rectangle 10"/>
          <p:cNvSpPr/>
          <p:nvPr userDrawn="1"/>
        </p:nvSpPr>
        <p:spPr>
          <a:xfrm>
            <a:off x="0" y="6553200"/>
            <a:ext cx="3810000" cy="304799"/>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pic>
        <p:nvPicPr>
          <p:cNvPr id="12" name="Picture 11">
            <a:extLst>
              <a:ext uri="{FF2B5EF4-FFF2-40B4-BE49-F238E27FC236}">
                <a16:creationId xmlns:a16="http://schemas.microsoft.com/office/drawing/2014/main" id="{55FD2F6F-6359-4501-95F7-06827D3779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38722" y="193931"/>
            <a:ext cx="2577078" cy="644269"/>
          </a:xfrm>
          <a:prstGeom prst="rect">
            <a:avLst/>
          </a:prstGeom>
        </p:spPr>
      </p:pic>
      <p:pic>
        <p:nvPicPr>
          <p:cNvPr id="9" name="Picture 2" descr="C:\Users\Dell\Desktop\Logos\Somaiya Trust.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686800" y="228600"/>
            <a:ext cx="753883" cy="56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9144000" cy="1096962"/>
          </a:xfrm>
          <a:prstGeom prst="rect">
            <a:avLst/>
          </a:prstGeom>
        </p:spPr>
        <p:txBody>
          <a:bodyPr/>
          <a:lstStyle>
            <a:lvl1pPr>
              <a:defRPr sz="3200" b="1"/>
            </a:lvl1pPr>
          </a:lstStyle>
          <a:p>
            <a:r>
              <a:rPr lang="en-US" dirty="0"/>
              <a:t>Click to edit Master title style</a:t>
            </a:r>
            <a:endParaRPr dirty="0"/>
          </a:p>
        </p:txBody>
      </p:sp>
      <p:sp>
        <p:nvSpPr>
          <p:cNvPr id="3" name="Content Placeholder 2"/>
          <p:cNvSpPr>
            <a:spLocks noGrp="1"/>
          </p:cNvSpPr>
          <p:nvPr>
            <p:ph idx="1"/>
          </p:nvPr>
        </p:nvSpPr>
        <p:spPr>
          <a:xfrm>
            <a:off x="685800" y="1346200"/>
            <a:ext cx="11036300" cy="47879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Slide Number Placeholder 5"/>
          <p:cNvSpPr>
            <a:spLocks noGrp="1"/>
          </p:cNvSpPr>
          <p:nvPr>
            <p:ph type="sldNum" sz="quarter" idx="12"/>
          </p:nvPr>
        </p:nvSpPr>
        <p:spPr>
          <a:xfrm>
            <a:off x="11300346" y="6548947"/>
            <a:ext cx="799484" cy="365125"/>
          </a:xfrm>
          <a:prstGeom prst="rect">
            <a:avLst/>
          </a:prstGeom>
        </p:spPr>
        <p:txBody>
          <a:bodyPr/>
          <a:lstStyle>
            <a:lvl1pPr>
              <a:defRPr sz="1600" baseline="0">
                <a:solidFill>
                  <a:srgbClr val="58595B"/>
                </a:solidFill>
                <a:latin typeface="Fira Sans" pitchFamily="34" charset="0"/>
                <a:ea typeface="Fira Sans" pitchFamily="34" charset="0"/>
              </a:defRPr>
            </a:lvl1pPr>
          </a:lstStyle>
          <a:p>
            <a:fld id="{0FF54DE5-C571-48E8-A5BC-B369434E2F44}" type="slidenum">
              <a:rPr lang="en-US" smtClean="0"/>
              <a:pPr/>
              <a:t>‹#›</a:t>
            </a:fld>
            <a:endParaRPr lang="en-US" dirty="0"/>
          </a:p>
        </p:txBody>
      </p:sp>
      <p:sp>
        <p:nvSpPr>
          <p:cNvPr id="7" name="Rectangle 6"/>
          <p:cNvSpPr/>
          <p:nvPr userDrawn="1"/>
        </p:nvSpPr>
        <p:spPr>
          <a:xfrm>
            <a:off x="5547771" y="6553201"/>
            <a:ext cx="673985" cy="304800"/>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8" name="Rectangle 7"/>
          <p:cNvSpPr/>
          <p:nvPr userDrawn="1"/>
        </p:nvSpPr>
        <p:spPr>
          <a:xfrm>
            <a:off x="0" y="6553199"/>
            <a:ext cx="3581400" cy="304801"/>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19101" y="76200"/>
            <a:ext cx="9182100" cy="1096962"/>
          </a:xfrm>
          <a:prstGeom prst="rect">
            <a:avLst/>
          </a:prstGeom>
        </p:spPr>
        <p:txBody>
          <a:bodyPr/>
          <a:lstStyle>
            <a:lvl1pPr>
              <a:defRPr sz="3200" b="1"/>
            </a:lvl1pPr>
          </a:lstStyle>
          <a:p>
            <a:r>
              <a:rPr lang="en-US" dirty="0"/>
              <a:t>Click to edit Master title style</a:t>
            </a:r>
            <a:endParaRPr dirty="0"/>
          </a:p>
        </p:txBody>
      </p:sp>
      <p:sp>
        <p:nvSpPr>
          <p:cNvPr id="3" name="Content Placeholder 2"/>
          <p:cNvSpPr>
            <a:spLocks noGrp="1"/>
          </p:cNvSpPr>
          <p:nvPr>
            <p:ph sz="half" idx="1"/>
          </p:nvPr>
        </p:nvSpPr>
        <p:spPr>
          <a:xfrm>
            <a:off x="444500" y="1291266"/>
            <a:ext cx="5219700" cy="4855534"/>
          </a:xfrm>
          <a:prstGeom prst="rect">
            <a:avLst/>
          </a:prstGeo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5956300" y="1291266"/>
            <a:ext cx="5219700" cy="4855534"/>
          </a:xfrm>
          <a:prstGeom prst="rect">
            <a:avLst/>
          </a:prstGeo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Slide Number Placeholder 5"/>
          <p:cNvSpPr>
            <a:spLocks noGrp="1"/>
          </p:cNvSpPr>
          <p:nvPr>
            <p:ph type="sldNum" sz="quarter" idx="12"/>
          </p:nvPr>
        </p:nvSpPr>
        <p:spPr>
          <a:xfrm>
            <a:off x="11300346" y="6535299"/>
            <a:ext cx="799484" cy="365125"/>
          </a:xfrm>
          <a:prstGeom prst="rect">
            <a:avLst/>
          </a:prstGeom>
        </p:spPr>
        <p:txBody>
          <a:bodyPr/>
          <a:lstStyle>
            <a:lvl1pPr>
              <a:defRPr sz="1600" baseline="0">
                <a:solidFill>
                  <a:srgbClr val="58595B"/>
                </a:solidFill>
                <a:latin typeface="Fira Sans" pitchFamily="34" charset="0"/>
                <a:ea typeface="Fira Sans" pitchFamily="34" charset="0"/>
              </a:defRPr>
            </a:lvl1pPr>
          </a:lstStyle>
          <a:p>
            <a:fld id="{0FF54DE5-C571-48E8-A5BC-B369434E2F44}" type="slidenum">
              <a:rPr lang="en-US" smtClean="0"/>
              <a:pPr/>
              <a:t>‹#›</a:t>
            </a:fld>
            <a:endParaRPr lang="en-US" dirty="0"/>
          </a:p>
        </p:txBody>
      </p:sp>
      <p:sp>
        <p:nvSpPr>
          <p:cNvPr id="7" name="Rectangle 6"/>
          <p:cNvSpPr/>
          <p:nvPr userDrawn="1"/>
        </p:nvSpPr>
        <p:spPr>
          <a:xfrm>
            <a:off x="5547771" y="6553201"/>
            <a:ext cx="673985" cy="304800"/>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9" name="Rectangle 8"/>
          <p:cNvSpPr/>
          <p:nvPr userDrawn="1"/>
        </p:nvSpPr>
        <p:spPr>
          <a:xfrm>
            <a:off x="0" y="6553200"/>
            <a:ext cx="5556736" cy="304800"/>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1" name="Rectangle 10"/>
          <p:cNvSpPr/>
          <p:nvPr userDrawn="1"/>
        </p:nvSpPr>
        <p:spPr>
          <a:xfrm>
            <a:off x="3810001" y="6553201"/>
            <a:ext cx="2411756" cy="304798"/>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2" name="Rectangle 11"/>
          <p:cNvSpPr/>
          <p:nvPr userDrawn="1"/>
        </p:nvSpPr>
        <p:spPr>
          <a:xfrm>
            <a:off x="0" y="6553200"/>
            <a:ext cx="3810000" cy="304799"/>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19101" y="76200"/>
            <a:ext cx="9182100" cy="1096962"/>
          </a:xfrm>
          <a:prstGeom prst="rect">
            <a:avLst/>
          </a:prstGeom>
        </p:spPr>
        <p:txBody>
          <a:bodyPr/>
          <a:lstStyle>
            <a:lvl1pPr>
              <a:defRPr sz="3200" b="1"/>
            </a:lvl1pPr>
          </a:lstStyle>
          <a:p>
            <a:r>
              <a:rPr lang="en-US" dirty="0"/>
              <a:t>Click to edit Master title style</a:t>
            </a:r>
            <a:endParaRPr dirty="0"/>
          </a:p>
        </p:txBody>
      </p:sp>
      <p:sp>
        <p:nvSpPr>
          <p:cNvPr id="3" name="Text Placeholder 2"/>
          <p:cNvSpPr>
            <a:spLocks noGrp="1"/>
          </p:cNvSpPr>
          <p:nvPr>
            <p:ph type="body" idx="1"/>
          </p:nvPr>
        </p:nvSpPr>
        <p:spPr>
          <a:xfrm>
            <a:off x="444500" y="1282700"/>
            <a:ext cx="5124190" cy="858198"/>
          </a:xfrm>
          <a:prstGeom prst="rect">
            <a:avLst/>
          </a:prstGeo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44500" y="2170112"/>
            <a:ext cx="5124190" cy="390406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5886710" y="1282700"/>
            <a:ext cx="5124190" cy="858198"/>
          </a:xfrm>
          <a:prstGeom prst="rect">
            <a:avLst/>
          </a:prstGeo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86710" y="2170112"/>
            <a:ext cx="5124190" cy="390406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Slide Number Placeholder 5"/>
          <p:cNvSpPr>
            <a:spLocks noGrp="1"/>
          </p:cNvSpPr>
          <p:nvPr>
            <p:ph type="sldNum" sz="quarter" idx="12"/>
          </p:nvPr>
        </p:nvSpPr>
        <p:spPr>
          <a:xfrm>
            <a:off x="11300346" y="6535299"/>
            <a:ext cx="799484" cy="365125"/>
          </a:xfrm>
          <a:prstGeom prst="rect">
            <a:avLst/>
          </a:prstGeom>
        </p:spPr>
        <p:txBody>
          <a:bodyPr/>
          <a:lstStyle>
            <a:lvl1pPr>
              <a:defRPr sz="1600" baseline="0">
                <a:solidFill>
                  <a:srgbClr val="58595B"/>
                </a:solidFill>
                <a:latin typeface="Fira Sans" pitchFamily="34" charset="0"/>
                <a:ea typeface="Fira Sans" pitchFamily="34" charset="0"/>
              </a:defRPr>
            </a:lvl1pPr>
          </a:lstStyle>
          <a:p>
            <a:fld id="{0FF54DE5-C571-48E8-A5BC-B369434E2F44}" type="slidenum">
              <a:rPr lang="en-US" smtClean="0"/>
              <a:pPr/>
              <a:t>‹#›</a:t>
            </a:fld>
            <a:endParaRPr lang="en-US" dirty="0"/>
          </a:p>
        </p:txBody>
      </p:sp>
      <p:sp>
        <p:nvSpPr>
          <p:cNvPr id="9" name="Rectangle 8"/>
          <p:cNvSpPr/>
          <p:nvPr userDrawn="1"/>
        </p:nvSpPr>
        <p:spPr>
          <a:xfrm>
            <a:off x="5547771" y="6553201"/>
            <a:ext cx="673985" cy="304800"/>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1" name="Rectangle 10"/>
          <p:cNvSpPr/>
          <p:nvPr userDrawn="1"/>
        </p:nvSpPr>
        <p:spPr>
          <a:xfrm>
            <a:off x="0" y="6553200"/>
            <a:ext cx="5556736" cy="304800"/>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3" name="Rectangle 12"/>
          <p:cNvSpPr/>
          <p:nvPr userDrawn="1"/>
        </p:nvSpPr>
        <p:spPr>
          <a:xfrm>
            <a:off x="3810001" y="6553201"/>
            <a:ext cx="2411756" cy="304798"/>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4" name="Rectangle 13"/>
          <p:cNvSpPr/>
          <p:nvPr userDrawn="1"/>
        </p:nvSpPr>
        <p:spPr>
          <a:xfrm>
            <a:off x="0" y="6553200"/>
            <a:ext cx="3810000" cy="304799"/>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19101" y="76200"/>
            <a:ext cx="9105900" cy="1096962"/>
          </a:xfrm>
          <a:prstGeom prst="rect">
            <a:avLst/>
          </a:prstGeom>
        </p:spPr>
        <p:txBody>
          <a:bodyPr/>
          <a:lstStyle>
            <a:lvl1pPr>
              <a:defRPr sz="3200" b="1"/>
            </a:lvl1pPr>
          </a:lstStyle>
          <a:p>
            <a:r>
              <a:rPr lang="en-US" dirty="0"/>
              <a:t>Click to edit Master title style</a:t>
            </a:r>
            <a:endParaRPr dirty="0"/>
          </a:p>
        </p:txBody>
      </p:sp>
      <p:sp>
        <p:nvSpPr>
          <p:cNvPr id="6" name="Slide Number Placeholder 5"/>
          <p:cNvSpPr>
            <a:spLocks noGrp="1"/>
          </p:cNvSpPr>
          <p:nvPr>
            <p:ph type="sldNum" sz="quarter" idx="12"/>
          </p:nvPr>
        </p:nvSpPr>
        <p:spPr>
          <a:xfrm>
            <a:off x="11300346" y="6535299"/>
            <a:ext cx="799484" cy="365125"/>
          </a:xfrm>
          <a:prstGeom prst="rect">
            <a:avLst/>
          </a:prstGeom>
        </p:spPr>
        <p:txBody>
          <a:bodyPr/>
          <a:lstStyle>
            <a:lvl1pPr>
              <a:defRPr sz="1600" baseline="0">
                <a:solidFill>
                  <a:srgbClr val="58595B"/>
                </a:solidFill>
                <a:latin typeface="Fira Sans" pitchFamily="34" charset="0"/>
                <a:ea typeface="Fira Sans" pitchFamily="34" charset="0"/>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a:xfrm>
            <a:off x="11300346" y="6535299"/>
            <a:ext cx="799484" cy="365125"/>
          </a:xfrm>
          <a:prstGeom prst="rect">
            <a:avLst/>
          </a:prstGeom>
        </p:spPr>
        <p:txBody>
          <a:bodyPr/>
          <a:lstStyle>
            <a:lvl1pPr>
              <a:defRPr sz="1600" baseline="0">
                <a:solidFill>
                  <a:srgbClr val="58595B"/>
                </a:solidFill>
                <a:latin typeface="Fira Sans" pitchFamily="34" charset="0"/>
                <a:ea typeface="Fira Sans" pitchFamily="34" charset="0"/>
              </a:defRPr>
            </a:lvl1pPr>
          </a:lstStyle>
          <a:p>
            <a:fld id="{0FF54DE5-C571-48E8-A5BC-B369434E2F44}" type="slidenum">
              <a:rPr lang="en-US" smtClean="0"/>
              <a:pPr/>
              <a:t>‹#›</a:t>
            </a:fld>
            <a:endParaRPr lang="en-US" dirty="0"/>
          </a:p>
        </p:txBody>
      </p:sp>
      <p:sp>
        <p:nvSpPr>
          <p:cNvPr id="7" name="Rectangle 6"/>
          <p:cNvSpPr/>
          <p:nvPr userDrawn="1"/>
        </p:nvSpPr>
        <p:spPr>
          <a:xfrm>
            <a:off x="0" y="2362200"/>
            <a:ext cx="609600" cy="4495799"/>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userDrawn="1"/>
        </p:nvSpPr>
        <p:spPr>
          <a:xfrm>
            <a:off x="3810001" y="6553201"/>
            <a:ext cx="2411756" cy="304798"/>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9" name="Rectangle 8"/>
          <p:cNvSpPr/>
          <p:nvPr userDrawn="1"/>
        </p:nvSpPr>
        <p:spPr>
          <a:xfrm>
            <a:off x="0" y="6553200"/>
            <a:ext cx="3810000" cy="304799"/>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pic>
        <p:nvPicPr>
          <p:cNvPr id="6" name="Picture 5">
            <a:extLst>
              <a:ext uri="{FF2B5EF4-FFF2-40B4-BE49-F238E27FC236}">
                <a16:creationId xmlns:a16="http://schemas.microsoft.com/office/drawing/2014/main" id="{55FD2F6F-6359-4501-95F7-06827D3779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38722" y="193931"/>
            <a:ext cx="2577078" cy="644269"/>
          </a:xfrm>
          <a:prstGeom prst="rect">
            <a:avLst/>
          </a:prstGeom>
        </p:spPr>
      </p:pic>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01" y="76200"/>
            <a:ext cx="9182100" cy="1096962"/>
          </a:xfrm>
          <a:prstGeom prst="rect">
            <a:avLst/>
          </a:prstGeom>
        </p:spPr>
        <p:txBody>
          <a:bodyPr anchor="b"/>
          <a:lstStyle>
            <a:lvl1pPr>
              <a:defRPr sz="3200" b="1"/>
            </a:lvl1pPr>
          </a:lstStyle>
          <a:p>
            <a:r>
              <a:rPr lang="en-US" dirty="0"/>
              <a:t>Click to edit Master title style</a:t>
            </a:r>
            <a:endParaRPr dirty="0"/>
          </a:p>
        </p:txBody>
      </p:sp>
      <p:sp>
        <p:nvSpPr>
          <p:cNvPr id="4" name="Text Placeholder 3"/>
          <p:cNvSpPr>
            <a:spLocks noGrp="1"/>
          </p:cNvSpPr>
          <p:nvPr>
            <p:ph type="body" sz="half" idx="2"/>
          </p:nvPr>
        </p:nvSpPr>
        <p:spPr>
          <a:xfrm>
            <a:off x="444500" y="1371600"/>
            <a:ext cx="4572000" cy="4767466"/>
          </a:xfrm>
          <a:prstGeom prst="rect">
            <a:avLst/>
          </a:prstGeo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210048" y="1371599"/>
            <a:ext cx="5686552" cy="4774604"/>
          </a:xfrm>
          <a:prstGeom prst="rect">
            <a:avLst/>
          </a:prstGeo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Slide Number Placeholder 5"/>
          <p:cNvSpPr>
            <a:spLocks noGrp="1"/>
          </p:cNvSpPr>
          <p:nvPr>
            <p:ph type="sldNum" sz="quarter" idx="12"/>
          </p:nvPr>
        </p:nvSpPr>
        <p:spPr>
          <a:xfrm>
            <a:off x="11300346" y="6535299"/>
            <a:ext cx="799484" cy="365125"/>
          </a:xfrm>
          <a:prstGeom prst="rect">
            <a:avLst/>
          </a:prstGeom>
        </p:spPr>
        <p:txBody>
          <a:bodyPr/>
          <a:lstStyle>
            <a:lvl1pPr>
              <a:defRPr sz="1600" baseline="0">
                <a:solidFill>
                  <a:srgbClr val="58595B"/>
                </a:solidFill>
                <a:latin typeface="Fira Sans" pitchFamily="34" charset="0"/>
                <a:ea typeface="Fira Sans" pitchFamily="34" charset="0"/>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01" y="76200"/>
            <a:ext cx="9105900" cy="1096962"/>
          </a:xfrm>
          <a:prstGeom prst="rect">
            <a:avLst/>
          </a:prstGeom>
        </p:spPr>
        <p:txBody>
          <a:bodyPr anchor="b"/>
          <a:lstStyle>
            <a:lvl1pPr>
              <a:defRPr sz="3200" b="1"/>
            </a:lvl1pPr>
          </a:lstStyle>
          <a:p>
            <a:r>
              <a:rPr lang="en-US" dirty="0"/>
              <a:t>Click to edit Master title style</a:t>
            </a:r>
            <a:endParaRPr dirty="0"/>
          </a:p>
        </p:txBody>
      </p:sp>
      <p:sp>
        <p:nvSpPr>
          <p:cNvPr id="4" name="Text Placeholder 3"/>
          <p:cNvSpPr>
            <a:spLocks noGrp="1"/>
          </p:cNvSpPr>
          <p:nvPr>
            <p:ph type="body" sz="half" idx="2"/>
          </p:nvPr>
        </p:nvSpPr>
        <p:spPr>
          <a:xfrm>
            <a:off x="431800" y="1320799"/>
            <a:ext cx="3594100" cy="4837281"/>
          </a:xfrm>
          <a:prstGeom prst="rect">
            <a:avLst/>
          </a:prstGeo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133971" y="1333499"/>
            <a:ext cx="6841776" cy="4864101"/>
          </a:xfrm>
          <a:prstGeom prst="rect">
            <a:avLst/>
          </a:prstGeo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8" name="Slide Number Placeholder 5"/>
          <p:cNvSpPr>
            <a:spLocks noGrp="1"/>
          </p:cNvSpPr>
          <p:nvPr>
            <p:ph type="sldNum" sz="quarter" idx="12"/>
          </p:nvPr>
        </p:nvSpPr>
        <p:spPr>
          <a:xfrm>
            <a:off x="11300346" y="6535299"/>
            <a:ext cx="799484" cy="365125"/>
          </a:xfrm>
          <a:prstGeom prst="rect">
            <a:avLst/>
          </a:prstGeom>
        </p:spPr>
        <p:txBody>
          <a:bodyPr/>
          <a:lstStyle>
            <a:lvl1pPr>
              <a:defRPr sz="1600" baseline="0">
                <a:solidFill>
                  <a:srgbClr val="58595B"/>
                </a:solidFill>
                <a:latin typeface="Fira Sans" pitchFamily="34" charset="0"/>
                <a:ea typeface="Fira Sans" pitchFamily="34" charset="0"/>
              </a:defRPr>
            </a:lvl1pPr>
          </a:lstStyle>
          <a:p>
            <a:fld id="{0FF54DE5-C571-48E8-A5BC-B369434E2F44}" type="slidenum">
              <a:rPr lang="en-US" smtClean="0"/>
              <a:pPr/>
              <a:t>‹#›</a:t>
            </a:fld>
            <a:endParaRPr lang="en-US" dirty="0"/>
          </a:p>
        </p:txBody>
      </p:sp>
      <p:sp>
        <p:nvSpPr>
          <p:cNvPr id="7" name="Rectangle 6"/>
          <p:cNvSpPr/>
          <p:nvPr userDrawn="1"/>
        </p:nvSpPr>
        <p:spPr>
          <a:xfrm>
            <a:off x="5547771" y="6553201"/>
            <a:ext cx="673985" cy="304800"/>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9" name="Rectangle 8"/>
          <p:cNvSpPr/>
          <p:nvPr userDrawn="1"/>
        </p:nvSpPr>
        <p:spPr>
          <a:xfrm>
            <a:off x="0" y="6553200"/>
            <a:ext cx="5556736" cy="304800"/>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19101" y="76200"/>
            <a:ext cx="9182100" cy="1096962"/>
          </a:xfrm>
          <a:prstGeom prst="rect">
            <a:avLst/>
          </a:prstGeom>
        </p:spPr>
        <p:txBody>
          <a:bodyPr/>
          <a:lstStyle>
            <a:lvl1pPr>
              <a:defRPr sz="3200" b="1"/>
            </a:lvl1pPr>
          </a:lstStyle>
          <a:p>
            <a:r>
              <a:rPr lang="en-US" dirty="0"/>
              <a:t>Click to edit Master title style</a:t>
            </a:r>
            <a:endParaRPr dirty="0"/>
          </a:p>
        </p:txBody>
      </p:sp>
      <p:sp>
        <p:nvSpPr>
          <p:cNvPr id="3" name="Vertical Text Placeholder 2"/>
          <p:cNvSpPr>
            <a:spLocks noGrp="1"/>
          </p:cNvSpPr>
          <p:nvPr>
            <p:ph type="body" orient="vert" idx="1"/>
          </p:nvPr>
        </p:nvSpPr>
        <p:spPr>
          <a:xfrm>
            <a:off x="444500" y="1346200"/>
            <a:ext cx="11277600" cy="478790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Slide Number Placeholder 5"/>
          <p:cNvSpPr>
            <a:spLocks noGrp="1"/>
          </p:cNvSpPr>
          <p:nvPr>
            <p:ph type="sldNum" sz="quarter" idx="12"/>
          </p:nvPr>
        </p:nvSpPr>
        <p:spPr>
          <a:xfrm>
            <a:off x="11300346" y="6535299"/>
            <a:ext cx="799484" cy="365125"/>
          </a:xfrm>
          <a:prstGeom prst="rect">
            <a:avLst/>
          </a:prstGeom>
        </p:spPr>
        <p:txBody>
          <a:bodyPr/>
          <a:lstStyle>
            <a:lvl1pPr>
              <a:defRPr sz="1600" baseline="0">
                <a:solidFill>
                  <a:srgbClr val="58595B"/>
                </a:solidFill>
                <a:latin typeface="Fira Sans" pitchFamily="34" charset="0"/>
                <a:ea typeface="Fira Sans" pitchFamily="34" charset="0"/>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a:prstGeom prst="rect">
            <a:avLst/>
          </a:prstGeom>
        </p:spPr>
        <p:txBody>
          <a:bodyPr vert="eaVert"/>
          <a:lstStyle>
            <a:lvl1pPr>
              <a:defRPr sz="3200" b="1"/>
            </a:lvl1pPr>
          </a:lstStyle>
          <a:p>
            <a:r>
              <a:rPr lang="en-US" dirty="0"/>
              <a:t>Click to edit Master title style</a:t>
            </a:r>
            <a:endParaRPr dirty="0"/>
          </a:p>
        </p:txBody>
      </p:sp>
      <p:sp>
        <p:nvSpPr>
          <p:cNvPr id="3" name="Vertical Text Placeholder 2"/>
          <p:cNvSpPr>
            <a:spLocks noGrp="1"/>
          </p:cNvSpPr>
          <p:nvPr>
            <p:ph type="body" orient="vert" idx="1"/>
          </p:nvPr>
        </p:nvSpPr>
        <p:spPr>
          <a:xfrm>
            <a:off x="1104900" y="365125"/>
            <a:ext cx="8098896"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Slide Number Placeholder 5"/>
          <p:cNvSpPr>
            <a:spLocks noGrp="1"/>
          </p:cNvSpPr>
          <p:nvPr>
            <p:ph type="sldNum" sz="quarter" idx="12"/>
          </p:nvPr>
        </p:nvSpPr>
        <p:spPr>
          <a:xfrm>
            <a:off x="11300346" y="6535299"/>
            <a:ext cx="799484" cy="365125"/>
          </a:xfrm>
          <a:prstGeom prst="rect">
            <a:avLst/>
          </a:prstGeom>
        </p:spPr>
        <p:txBody>
          <a:bodyPr/>
          <a:lstStyle>
            <a:lvl1pPr>
              <a:defRPr sz="1600" baseline="0">
                <a:solidFill>
                  <a:srgbClr val="58595B"/>
                </a:solidFill>
                <a:latin typeface="Fira Sans" pitchFamily="34" charset="0"/>
                <a:ea typeface="Fira Sans" pitchFamily="34" charset="0"/>
              </a:defRPr>
            </a:lvl1pPr>
          </a:lstStyle>
          <a:p>
            <a:fld id="{0FF54DE5-C571-48E8-A5BC-B369434E2F44}" type="slidenum">
              <a:rPr lang="en-US" smtClean="0"/>
              <a:pPr/>
              <a:t>‹#›</a:t>
            </a:fld>
            <a:endParaRPr lang="en-US" dirty="0"/>
          </a:p>
        </p:txBody>
      </p:sp>
      <p:sp>
        <p:nvSpPr>
          <p:cNvPr id="9" name="Rectangle 8"/>
          <p:cNvSpPr/>
          <p:nvPr userDrawn="1"/>
        </p:nvSpPr>
        <p:spPr>
          <a:xfrm>
            <a:off x="0" y="2362200"/>
            <a:ext cx="609600" cy="4495799"/>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userDrawn="1"/>
        </p:nvSpPr>
        <p:spPr>
          <a:xfrm>
            <a:off x="3810001" y="6553201"/>
            <a:ext cx="2411756" cy="304798"/>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1" name="Rectangle 10"/>
          <p:cNvSpPr/>
          <p:nvPr userDrawn="1"/>
        </p:nvSpPr>
        <p:spPr>
          <a:xfrm>
            <a:off x="0" y="6553200"/>
            <a:ext cx="3810000" cy="304799"/>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ntents (short)">
    <p:spTree>
      <p:nvGrpSpPr>
        <p:cNvPr id="1" name=""/>
        <p:cNvGrpSpPr/>
        <p:nvPr/>
      </p:nvGrpSpPr>
      <p:grpSpPr>
        <a:xfrm>
          <a:off x="0" y="0"/>
          <a:ext cx="0" cy="0"/>
          <a:chOff x="0" y="0"/>
          <a:chExt cx="0" cy="0"/>
        </a:xfrm>
      </p:grpSpPr>
      <p:sp>
        <p:nvSpPr>
          <p:cNvPr id="16" name="Picture Placeholder 7">
            <a:extLst>
              <a:ext uri="{FF2B5EF4-FFF2-40B4-BE49-F238E27FC236}">
                <a16:creationId xmlns:a16="http://schemas.microsoft.com/office/drawing/2014/main" id="{AFB771EE-5FE8-4675-B823-C10E798A784A}"/>
              </a:ext>
            </a:extLst>
          </p:cNvPr>
          <p:cNvSpPr>
            <a:spLocks noGrp="1"/>
          </p:cNvSpPr>
          <p:nvPr>
            <p:ph type="pic" sz="quarter" idx="13"/>
          </p:nvPr>
        </p:nvSpPr>
        <p:spPr>
          <a:xfrm>
            <a:off x="6096000" y="0"/>
            <a:ext cx="6096000" cy="6857083"/>
          </a:xfrm>
          <a:prstGeom prst="rect">
            <a:avLst/>
          </a:prstGeom>
        </p:spPr>
        <p:txBody>
          <a:bodyPr lIns="121899" tIns="60949" rIns="121899" bIns="60949"/>
          <a:lstStyle/>
          <a:p>
            <a:r>
              <a:rPr lang="en-GB" noProof="0"/>
              <a:t>Click icon to add picture</a:t>
            </a:r>
          </a:p>
        </p:txBody>
      </p:sp>
      <p:sp>
        <p:nvSpPr>
          <p:cNvPr id="10" name="Content Placeholder 2">
            <a:extLst>
              <a:ext uri="{FF2B5EF4-FFF2-40B4-BE49-F238E27FC236}">
                <a16:creationId xmlns:a16="http://schemas.microsoft.com/office/drawing/2014/main" id="{CD3F108E-47F6-4444-9CEE-D7CA1355338D}"/>
              </a:ext>
            </a:extLst>
          </p:cNvPr>
          <p:cNvSpPr>
            <a:spLocks noGrp="1"/>
          </p:cNvSpPr>
          <p:nvPr>
            <p:ph idx="17"/>
          </p:nvPr>
        </p:nvSpPr>
        <p:spPr>
          <a:xfrm>
            <a:off x="720000" y="1823437"/>
            <a:ext cx="5040000" cy="4318667"/>
          </a:xfrm>
          <a:prstGeom prst="rect">
            <a:avLst/>
          </a:prstGeom>
        </p:spPr>
        <p:txBody>
          <a:bodyPr lIns="121899" tIns="60949" rIns="121899" bIns="60949"/>
          <a:lstStyle>
            <a:lvl1pPr marL="335941" indent="-335941">
              <a:lnSpc>
                <a:spcPct val="85000"/>
              </a:lnSpc>
              <a:spcAft>
                <a:spcPts val="1066"/>
              </a:spcAft>
              <a:tabLst>
                <a:tab pos="335941" algn="l"/>
              </a:tabLst>
              <a:defRPr sz="2100" b="1" i="0" cap="none" spc="-13" baseline="0">
                <a:latin typeface="+mj-lt"/>
              </a:defRPr>
            </a:lvl1pPr>
            <a:lvl2pPr marL="335941" indent="-335941">
              <a:lnSpc>
                <a:spcPct val="85000"/>
              </a:lnSpc>
              <a:spcAft>
                <a:spcPts val="2133"/>
              </a:spcAft>
              <a:buNone/>
              <a:tabLst>
                <a:tab pos="335941" algn="l"/>
              </a:tabLst>
              <a:defRPr sz="2100" b="0" spc="-13" baseline="0">
                <a:latin typeface="+mn-lt"/>
              </a:defRPr>
            </a:lvl2pPr>
            <a:lvl3pPr marL="287950" indent="-287950">
              <a:lnSpc>
                <a:spcPct val="85000"/>
              </a:lnSpc>
              <a:spcAft>
                <a:spcPts val="800"/>
              </a:spcAft>
              <a:buClr>
                <a:schemeClr val="accent1"/>
              </a:buClr>
              <a:buFont typeface="Arial" panose="020B0604020202020204" pitchFamily="34" charset="0"/>
              <a:buChar char="–"/>
              <a:defRPr sz="2100" spc="-13" baseline="0"/>
            </a:lvl3pPr>
            <a:lvl4pPr marL="575899" indent="-287950">
              <a:lnSpc>
                <a:spcPct val="85000"/>
              </a:lnSpc>
              <a:spcAft>
                <a:spcPts val="800"/>
              </a:spcAft>
              <a:buClr>
                <a:schemeClr val="accent1"/>
              </a:buClr>
              <a:buFont typeface="Arial" panose="020B0604020202020204" pitchFamily="34" charset="0"/>
              <a:buChar char="–"/>
              <a:defRPr sz="2100" spc="-13" baseline="0"/>
            </a:lvl4pPr>
            <a:lvl5pPr marL="575899" indent="-287950">
              <a:lnSpc>
                <a:spcPct val="85000"/>
              </a:lnSpc>
              <a:spcAft>
                <a:spcPts val="800"/>
              </a:spcAft>
              <a:buClr>
                <a:schemeClr val="tx2"/>
              </a:buClr>
              <a:buFont typeface="Arial" panose="020B0604020202020204" pitchFamily="34" charset="0"/>
              <a:buChar char="–"/>
              <a:defRPr sz="2100" baseline="0"/>
            </a:lvl5pPr>
          </a:lstStyle>
          <a:p>
            <a:pPr lvl="0"/>
            <a:r>
              <a:rPr lang="en-GB" noProof="0" dirty="0"/>
              <a:t>Edit Master text styles</a:t>
            </a:r>
          </a:p>
          <a:p>
            <a:pPr lvl="1"/>
            <a:r>
              <a:rPr lang="en-GB" noProof="0" dirty="0"/>
              <a:t>Second level</a:t>
            </a:r>
          </a:p>
          <a:p>
            <a:pPr lvl="2"/>
            <a:r>
              <a:rPr lang="en-GB" noProof="0" dirty="0"/>
              <a:t>Third level</a:t>
            </a:r>
          </a:p>
          <a:p>
            <a:pPr lvl="3"/>
            <a:r>
              <a:rPr lang="en-GB" noProof="0" dirty="0"/>
              <a:t>Fourth level</a:t>
            </a:r>
          </a:p>
        </p:txBody>
      </p:sp>
      <p:sp>
        <p:nvSpPr>
          <p:cNvPr id="12" name="Title 1">
            <a:extLst>
              <a:ext uri="{FF2B5EF4-FFF2-40B4-BE49-F238E27FC236}">
                <a16:creationId xmlns:a16="http://schemas.microsoft.com/office/drawing/2014/main" id="{9EEF42BF-89DD-468F-B45A-033C7392A78B}"/>
              </a:ext>
            </a:extLst>
          </p:cNvPr>
          <p:cNvSpPr>
            <a:spLocks noGrp="1"/>
          </p:cNvSpPr>
          <p:nvPr>
            <p:ph type="title"/>
          </p:nvPr>
        </p:nvSpPr>
        <p:spPr>
          <a:xfrm>
            <a:off x="720000" y="551829"/>
            <a:ext cx="5040000" cy="959704"/>
          </a:xfrm>
          <a:prstGeom prst="rect">
            <a:avLst/>
          </a:prstGeom>
        </p:spPr>
        <p:txBody>
          <a:bodyPr lIns="121899" tIns="60949" rIns="121899" bIns="60949"/>
          <a:lstStyle>
            <a:lvl1pPr>
              <a:defRPr sz="3200" b="1"/>
            </a:lvl1pPr>
          </a:lstStyle>
          <a:p>
            <a:r>
              <a:rPr lang="en-GB" noProof="0" dirty="0"/>
              <a:t>Click to edit Master title style</a:t>
            </a:r>
          </a:p>
        </p:txBody>
      </p:sp>
      <p:sp>
        <p:nvSpPr>
          <p:cNvPr id="13" name="Text Placeholder 2">
            <a:extLst>
              <a:ext uri="{FF2B5EF4-FFF2-40B4-BE49-F238E27FC236}">
                <a16:creationId xmlns:a16="http://schemas.microsoft.com/office/drawing/2014/main" id="{E9A380C8-1202-4543-8D75-F60840F59805}"/>
              </a:ext>
            </a:extLst>
          </p:cNvPr>
          <p:cNvSpPr>
            <a:spLocks noGrp="1"/>
          </p:cNvSpPr>
          <p:nvPr>
            <p:ph type="body" sz="quarter" idx="19"/>
          </p:nvPr>
        </p:nvSpPr>
        <p:spPr>
          <a:xfrm>
            <a:off x="960000" y="6310052"/>
            <a:ext cx="4560000" cy="143889"/>
          </a:xfrm>
          <a:prstGeom prst="rect">
            <a:avLst/>
          </a:prstGeom>
        </p:spPr>
        <p:txBody>
          <a:bodyPr lIns="121899" tIns="60949" rIns="121899" bIns="60949"/>
          <a:lstStyle>
            <a:lvl1pPr>
              <a:lnSpc>
                <a:spcPct val="100000"/>
              </a:lnSpc>
              <a:spcAft>
                <a:spcPts val="0"/>
              </a:spcAft>
              <a:defRPr sz="1100" b="1" i="0" cap="all" spc="0" baseline="0">
                <a:latin typeface="+mj-lt"/>
              </a:defRPr>
            </a:lvl1pPr>
            <a:lvl2pPr>
              <a:defRPr sz="1100" b="1" i="0" cap="all" baseline="0">
                <a:latin typeface="+mj-lt"/>
              </a:defRPr>
            </a:lvl2pPr>
            <a:lvl3pPr>
              <a:defRPr sz="1100" b="1" i="0" cap="all" baseline="0">
                <a:latin typeface="+mj-lt"/>
              </a:defRPr>
            </a:lvl3pPr>
            <a:lvl4pPr>
              <a:defRPr sz="1100" b="1" i="0" cap="all" baseline="0">
                <a:latin typeface="+mj-lt"/>
              </a:defRPr>
            </a:lvl4pPr>
            <a:lvl5pPr>
              <a:defRPr sz="1100" b="1" i="0" cap="all" baseline="0">
                <a:latin typeface="+mj-lt"/>
              </a:defRPr>
            </a:lvl5pPr>
          </a:lstStyle>
          <a:p>
            <a:pPr lvl="0"/>
            <a:r>
              <a:rPr lang="en-US" dirty="0"/>
              <a:t>Edit Master text styles</a:t>
            </a:r>
            <a:endParaRPr lang="en-GB" dirty="0"/>
          </a:p>
        </p:txBody>
      </p:sp>
      <p:sp>
        <p:nvSpPr>
          <p:cNvPr id="11" name="Slide Number Placeholder 5"/>
          <p:cNvSpPr>
            <a:spLocks noGrp="1"/>
          </p:cNvSpPr>
          <p:nvPr>
            <p:ph type="sldNum" sz="quarter" idx="12"/>
          </p:nvPr>
        </p:nvSpPr>
        <p:spPr>
          <a:xfrm>
            <a:off x="11300346" y="6535299"/>
            <a:ext cx="799484" cy="365125"/>
          </a:xfrm>
          <a:prstGeom prst="rect">
            <a:avLst/>
          </a:prstGeom>
        </p:spPr>
        <p:txBody>
          <a:bodyPr/>
          <a:lstStyle>
            <a:lvl1pPr>
              <a:defRPr sz="1600" baseline="0">
                <a:solidFill>
                  <a:srgbClr val="58595B"/>
                </a:solidFill>
                <a:latin typeface="Fira Sans" pitchFamily="34" charset="0"/>
                <a:ea typeface="Fira Sans" pitchFamily="34" charset="0"/>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3140862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19" name="TextBox 18"/>
          <p:cNvSpPr txBox="1"/>
          <p:nvPr userDrawn="1"/>
        </p:nvSpPr>
        <p:spPr>
          <a:xfrm>
            <a:off x="6253131" y="6519446"/>
            <a:ext cx="4652605" cy="338554"/>
          </a:xfrm>
          <a:prstGeom prst="rect">
            <a:avLst/>
          </a:prstGeom>
          <a:noFill/>
        </p:spPr>
        <p:txBody>
          <a:bodyPr wrap="square" rtlCol="0">
            <a:spAutoFit/>
          </a:bodyPr>
          <a:lstStyle/>
          <a:p>
            <a:r>
              <a:rPr lang="en-US" sz="1600" dirty="0">
                <a:solidFill>
                  <a:srgbClr val="58595B"/>
                </a:solidFill>
                <a:latin typeface="Fira Sans" pitchFamily="34" charset="0"/>
                <a:ea typeface="Fira Sans" pitchFamily="34" charset="0"/>
              </a:rPr>
              <a:t>K J Somaiya</a:t>
            </a:r>
            <a:r>
              <a:rPr lang="en-US" sz="1600" baseline="0" dirty="0">
                <a:solidFill>
                  <a:srgbClr val="58595B"/>
                </a:solidFill>
                <a:latin typeface="Fira Sans" pitchFamily="34" charset="0"/>
                <a:ea typeface="Fira Sans" pitchFamily="34" charset="0"/>
              </a:rPr>
              <a:t> Institute of Management, India</a:t>
            </a:r>
            <a:endParaRPr lang="en-US" sz="1600" dirty="0">
              <a:solidFill>
                <a:srgbClr val="58595B"/>
              </a:solidFill>
              <a:latin typeface="Fira Sans" pitchFamily="34" charset="0"/>
              <a:ea typeface="Fira Sans" pitchFamily="34" charset="0"/>
            </a:endParaRPr>
          </a:p>
        </p:txBody>
      </p:sp>
      <p:pic>
        <p:nvPicPr>
          <p:cNvPr id="8" name="Picture 7">
            <a:extLst>
              <a:ext uri="{FF2B5EF4-FFF2-40B4-BE49-F238E27FC236}">
                <a16:creationId xmlns:a16="http://schemas.microsoft.com/office/drawing/2014/main" id="{55FD2F6F-6359-4501-95F7-06827D37793B}"/>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538722" y="193931"/>
            <a:ext cx="2577078" cy="644269"/>
          </a:xfrm>
          <a:prstGeom prst="rect">
            <a:avLst/>
          </a:prstGeom>
        </p:spPr>
      </p:pic>
      <p:sp>
        <p:nvSpPr>
          <p:cNvPr id="4" name="Rectangle 3"/>
          <p:cNvSpPr/>
          <p:nvPr userDrawn="1"/>
        </p:nvSpPr>
        <p:spPr>
          <a:xfrm>
            <a:off x="0" y="2362200"/>
            <a:ext cx="609600" cy="4495799"/>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userDrawn="1"/>
        </p:nvSpPr>
        <p:spPr>
          <a:xfrm>
            <a:off x="3810001" y="6553201"/>
            <a:ext cx="2411756" cy="304798"/>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6" name="Rectangle 5"/>
          <p:cNvSpPr/>
          <p:nvPr userDrawn="1"/>
        </p:nvSpPr>
        <p:spPr>
          <a:xfrm>
            <a:off x="0" y="6553200"/>
            <a:ext cx="3810000" cy="304799"/>
          </a:xfrm>
          <a:prstGeom prst="rect">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kern="1200">
          <a:solidFill>
            <a:srgbClr val="B7202E"/>
          </a:solidFill>
          <a:latin typeface="Marcellus" pitchFamily="34" charset="0"/>
          <a:ea typeface="Fira Sans" pitchFamily="34" charset="0"/>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rgbClr val="58595B"/>
          </a:solidFill>
          <a:latin typeface="Fira Sans" pitchFamily="34" charset="0"/>
          <a:ea typeface="Fira Sans" pitchFamily="34" charset="0"/>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rgbClr val="58595B"/>
          </a:solidFill>
          <a:latin typeface="Fira Sans" pitchFamily="34" charset="0"/>
          <a:ea typeface="Fira Sans" pitchFamily="34" charset="0"/>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rgbClr val="58595B"/>
          </a:solidFill>
          <a:latin typeface="Fira Sans" pitchFamily="34" charset="0"/>
          <a:ea typeface="Fira Sans" pitchFamily="34" charset="0"/>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rgbClr val="58595B"/>
          </a:solidFill>
          <a:latin typeface="Fira Sans" pitchFamily="34" charset="0"/>
          <a:ea typeface="Fira Sans" pitchFamily="34" charset="0"/>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rgbClr val="58595B"/>
          </a:solidFill>
          <a:latin typeface="Fira Sans" pitchFamily="34" charset="0"/>
          <a:ea typeface="Fira Sans" pitchFamily="34" charset="0"/>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8" Type="http://schemas.openxmlformats.org/officeDocument/2006/relationships/notesSlide" Target="../notesSlides/notesSlide2.xml"/></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image" Target="../media/pr_today.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image" Target="../media/pr_phone.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97487" y="1524000"/>
            <a:ext cx="6096000" cy="1295400"/>
          </a:xfrm>
          <a:prstGeom prst="rect">
            <a:avLst/>
          </a:prstGeom>
          <a:noFill/>
        </p:spPr>
        <p:txBody>
          <a:bodyPr wrap="square" rtlCol="0">
            <a:spAutoFit/>
          </a:bodyPr>
          <a:lstStyle/>
          <a:p>
            <a:endParaRPr lang="en-IN" dirty="0"/>
          </a:p>
        </p:txBody>
      </p:sp>
      <p:sp>
        <p:nvSpPr>
          <p:cNvPr id="8" name="TextBox 7"/>
          <p:cNvSpPr txBox="1"/>
          <p:nvPr/>
        </p:nvSpPr>
        <p:spPr>
          <a:xfrm>
            <a:off x="3810000" y="914400"/>
            <a:ext cx="5867400" cy="584775"/>
          </a:xfrm>
          <a:prstGeom prst="rect">
            <a:avLst/>
          </a:prstGeom>
          <a:noFill/>
        </p:spPr>
        <p:txBody>
          <a:bodyPr wrap="square" rtlCol="0">
            <a:spAutoFit/>
          </a:bodyPr>
          <a:lstStyle/>
          <a:p>
            <a:endParaRPr lang="en-IN" sz="3200" dirty="0">
              <a:latin typeface="+mj-lt"/>
            </a:endParaRPr>
          </a:p>
        </p:txBody>
      </p:sp>
      <p:sp>
        <p:nvSpPr>
          <p:cNvPr id="10" name="TextBox 9"/>
          <p:cNvSpPr txBox="1"/>
          <p:nvPr/>
        </p:nvSpPr>
        <p:spPr>
          <a:xfrm>
            <a:off x="3984743" y="1083676"/>
            <a:ext cx="4495800" cy="830997"/>
          </a:xfrm>
          <a:prstGeom prst="rect">
            <a:avLst/>
          </a:prstGeom>
          <a:noFill/>
        </p:spPr>
        <p:txBody>
          <a:bodyPr wrap="square" rtlCol="0">
            <a:spAutoFit/>
          </a:bodyPr>
          <a:lstStyle/>
          <a:p>
            <a:pPr algn="ctr"/>
            <a:r>
              <a:rPr lang="en-US" sz="4800" b="1" dirty="0">
                <a:solidFill>
                  <a:srgbClr val="B7242A"/>
                </a:solidFill>
                <a:latin typeface="+mj-lt"/>
              </a:rPr>
              <a:t>PlacementRadar</a:t>
            </a:r>
            <a:endParaRPr lang="en-IN" sz="4800" b="1" dirty="0">
              <a:solidFill>
                <a:srgbClr val="B7242A"/>
              </a:solidFill>
              <a:latin typeface="+mj-lt"/>
            </a:endParaRPr>
          </a:p>
        </p:txBody>
      </p:sp>
      <p:sp>
        <p:nvSpPr>
          <p:cNvPr id="11" name="TextBox 10"/>
          <p:cNvSpPr txBox="1"/>
          <p:nvPr/>
        </p:nvSpPr>
        <p:spPr>
          <a:xfrm>
            <a:off x="2026310" y="3352800"/>
            <a:ext cx="8412480" cy="830997"/>
          </a:xfrm>
          <a:prstGeom prst="rect">
            <a:avLst/>
          </a:prstGeom>
          <a:noFill/>
        </p:spPr>
        <p:txBody>
          <a:bodyPr wrap="square" rtlCol="0">
            <a:spAutoFit/>
          </a:bodyPr>
          <a:lstStyle/>
          <a:p>
            <a:pPr algn="ctr"/>
            <a:r>
              <a:rPr lang="en-US" sz="2400" dirty="0">
                <a:solidFill>
                  <a:srgbClr val="58595B"/>
                </a:solidFill>
              </a:rPr>
              <a:t>Job intelligence and outreach automation for college placement cells</a:t>
            </a:r>
            <a:endParaRPr lang="en-IN" sz="2400" dirty="0">
              <a:solidFill>
                <a:srgbClr val="58595B"/>
              </a:soli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80294" y="6096000"/>
            <a:ext cx="1862667" cy="628650"/>
          </a:xfrm>
          <a:prstGeom prst="rect">
            <a:avLst/>
          </a:prstGeom>
        </p:spPr>
      </p:pic>
      <p:sp>
        <p:nvSpPr>
          <p:cNvPr id="40" name="Presenter"/>
          <p:cNvSpPr txBox="1"/>
          <p:nvPr/>
        </p:nvSpPr>
        <p:spPr>
          <a:xfrm>
            <a:off x="2026310" y="4343400"/>
            <a:ext cx="8412480" cy="822960"/>
          </a:xfrm>
          <a:prstGeom prst="rect">
            <a:avLst/>
          </a:prstGeom>
          <a:noFill/>
        </p:spPr>
        <p:txBody>
          <a:bodyPr wrap="square" lIns="0" tIns="0" rIns="0" bIns="0" anchor="t" rtlCol="0">
            <a:noAutofit/>
          </a:bodyPr>
          <a:lstStyle/>
          <a:p>
            <a:pPr algn="ctr">
              <a:buNone/>
            </a:pPr>
            <a:r>
              <a:rPr lang="en-US" sz="1800" b="1" dirty="0">
                <a:solidFill>
                  <a:srgbClr val="231F20"/>
                </a:solidFill>
              </a:rPr>
              <a:t>Shubham Chavan  ·  Roll No. 17030925005</a:t>
            </a:r>
            <a:endParaRPr lang="en-US" sz="1800" b="1" dirty="0">
              <a:solidFill>
                <a:srgbClr val="231F20"/>
              </a:solidFill>
            </a:endParaRPr>
          </a:p>
          <a:p>
            <a:pPr algn="ctr">
              <a:buNone/>
            </a:pPr>
            <a:r>
              <a:rPr lang="en-US" sz="1600" dirty="0">
                <a:solidFill>
                  <a:srgbClr val="58595B"/>
                </a:solidFill>
              </a:rPr>
              <a:t>Semester III Mini Project  ·  K. J. Somaiya Institute of Management</a:t>
            </a:r>
            <a:endParaRPr lang="en-US" sz="1600" dirty="0">
              <a:solidFill>
                <a:srgbClr val="58595B"/>
              </a:solidFill>
            </a:endParaRPr>
          </a:p>
        </p:txBody>
      </p:sp>
    </p:spTree>
    <p:extLst>
      <p:ext uri="{BB962C8B-B14F-4D97-AF65-F5344CB8AC3E}">
        <p14:creationId xmlns:p14="http://schemas.microsoft.com/office/powerpoint/2010/main" val="268178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330150" y="2438400"/>
            <a:ext cx="5634876" cy="1446550"/>
          </a:xfrm>
          <a:prstGeom prst="rect">
            <a:avLst/>
          </a:prstGeom>
          <a:noFill/>
        </p:spPr>
        <p:txBody>
          <a:bodyPr wrap="none" rtlCol="0">
            <a:spAutoFit/>
          </a:bodyPr>
          <a:lstStyle/>
          <a:p>
            <a:r>
              <a:rPr lang="en-US" sz="8800" b="1" dirty="0">
                <a:solidFill>
                  <a:srgbClr val="C00000"/>
                </a:solidFill>
                <a:latin typeface="+mj-lt"/>
                <a:ea typeface="Fira Sans" pitchFamily="34" charset="0"/>
                <a:cs typeface="Arial" pitchFamily="34" charset="0"/>
              </a:rPr>
              <a:t>Thank You</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19601" y="5515464"/>
            <a:ext cx="390373" cy="390373"/>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47691" y="5490587"/>
            <a:ext cx="440126" cy="440126"/>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58909" y="5508388"/>
            <a:ext cx="404525" cy="404525"/>
          </a:xfrm>
          <a:prstGeom prst="rect">
            <a:avLst/>
          </a:prstGeom>
          <a:solidFill>
            <a:srgbClr val="B6202E">
              <a:alpha val="0"/>
            </a:srgbClr>
          </a:solidFill>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99917" y="5516680"/>
            <a:ext cx="387941" cy="387941"/>
          </a:xfrm>
          <a:prstGeom prst="rect">
            <a:avLst/>
          </a:prstGeom>
        </p:spPr>
      </p:pic>
      <p:pic>
        <p:nvPicPr>
          <p:cNvPr id="10" name="Pictur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99833" y="5486400"/>
            <a:ext cx="448502" cy="448502"/>
          </a:xfrm>
          <a:prstGeom prst="rect">
            <a:avLst/>
          </a:prstGeom>
          <a:solidFill>
            <a:srgbClr val="B6202E">
              <a:alpha val="0"/>
            </a:srgbClr>
          </a:solidFill>
        </p:spPr>
      </p:pic>
      <p:sp>
        <p:nvSpPr>
          <p:cNvPr id="11" name="Rectangle 10"/>
          <p:cNvSpPr/>
          <p:nvPr/>
        </p:nvSpPr>
        <p:spPr>
          <a:xfrm>
            <a:off x="5026127" y="5029200"/>
            <a:ext cx="2135521" cy="369332"/>
          </a:xfrm>
          <a:prstGeom prst="rect">
            <a:avLst/>
          </a:prstGeom>
        </p:spPr>
        <p:txBody>
          <a:bodyPr wrap="none">
            <a:spAutoFit/>
          </a:bodyPr>
          <a:lstStyle/>
          <a:p>
            <a:pPr algn="ctr"/>
            <a:r>
              <a:rPr lang="en-US" dirty="0">
                <a:solidFill>
                  <a:srgbClr val="000000"/>
                </a:solidFill>
                <a:latin typeface="Fira Sans" pitchFamily="34" charset="0"/>
                <a:ea typeface="Fira Sans" pitchFamily="34" charset="0"/>
              </a:rPr>
              <a:t>simsr.somaiya.edu</a:t>
            </a:r>
          </a:p>
        </p:txBody>
      </p:sp>
      <p:sp>
        <p:nvSpPr>
          <p:cNvPr id="2" name="Slide Number Placeholder 1"/>
          <p:cNvSpPr>
            <a:spLocks noGrp="1"/>
          </p:cNvSpPr>
          <p:nvPr>
            <p:ph type="sldNum" sz="quarter" idx="12"/>
          </p:nvPr>
        </p:nvSpPr>
        <p:spPr/>
        <p:txBody>
          <a:bodyPr/>
          <a:lstStyle/>
          <a:p>
            <a:fld id="{0FF54DE5-C571-48E8-A5BC-B369434E2F44}" type="slidenum">
              <a:rPr lang="en-US" smtClean="0"/>
              <a:pPr/>
              <a:t>3</a:t>
            </a:fld>
            <a:endParaRPr lang="en-US" dirty="0"/>
          </a:p>
        </p:txBody>
      </p:sp>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2400" y="209550"/>
            <a:ext cx="1636889" cy="552450"/>
          </a:xfrm>
          <a:prstGeom prst="rect">
            <a:avLst/>
          </a:prstGeom>
        </p:spPr>
      </p:pic>
      <p:sp>
        <p:nvSpPr>
          <p:cNvPr id="40" name="Questions"/>
          <p:cNvSpPr txBox="1"/>
          <p:nvPr/>
        </p:nvSpPr>
        <p:spPr>
          <a:xfrm>
            <a:off x="3328416" y="3977640"/>
            <a:ext cx="5632704" cy="457200"/>
          </a:xfrm>
          <a:prstGeom prst="rect">
            <a:avLst/>
          </a:prstGeom>
          <a:noFill/>
        </p:spPr>
        <p:txBody>
          <a:bodyPr wrap="square" lIns="0" tIns="0" rIns="0" bIns="0" anchor="t" rtlCol="0">
            <a:noAutofit/>
          </a:bodyPr>
          <a:lstStyle/>
          <a:p>
            <a:pPr algn="ctr">
              <a:buNone/>
            </a:pPr>
            <a:r>
              <a:rPr lang="en-US" sz="2000" dirty="0">
                <a:solidFill>
                  <a:srgbClr val="58595B"/>
                </a:solidFill>
              </a:rPr>
              <a:t>Questions, or a live demo of the app</a:t>
            </a:r>
            <a:endParaRPr lang="en-US" sz="2000" dirty="0">
              <a:solidFill>
                <a:srgbClr val="58595B"/>
              </a:solidFill>
            </a:endParaRPr>
          </a:p>
        </p:txBody>
      </p:sp>
    </p:spTree>
    <p:extLst>
      <p:ext uri="{BB962C8B-B14F-4D97-AF65-F5344CB8AC3E}">
        <p14:creationId xmlns:p14="http://schemas.microsoft.com/office/powerpoint/2010/main" val="3598235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Every year, a committee starts from zero</a:t>
            </a:r>
          </a:p>
        </p:txBody>
      </p:sp>
      <p:sp>
        <p:nvSpPr>
          <p:cNvPr id="3" name="Number 1"/>
          <p:cNvSpPr txBox="1"/>
          <p:nvPr/>
        </p:nvSpPr>
        <p:spPr>
          <a:xfrm>
            <a:off x="868680" y="1828800"/>
            <a:ext cx="3383280" cy="1188720"/>
          </a:xfrm>
          <a:prstGeom prst="rect">
            <a:avLst/>
          </a:prstGeom>
          <a:noFill/>
        </p:spPr>
        <p:txBody>
          <a:bodyPr wrap="square" lIns="0" tIns="0" rIns="0" bIns="0" anchor="b" rtlCol="0">
            <a:noAutofit/>
          </a:bodyPr>
          <a:lstStyle/>
          <a:p>
            <a:pPr algn="l">
              <a:buNone/>
            </a:pPr>
            <a:r>
              <a:rPr lang="en-US" sz="6600" b="1" dirty="0">
                <a:solidFill>
                  <a:srgbClr val="B7202E"/>
                </a:solidFill>
                <a:latin typeface="+mj-lt"/>
              </a:rPr>
              <a:t>25</a:t>
            </a:r>
            <a:r>
              <a:rPr lang="en-US" sz="2400" dirty="0">
                <a:solidFill>
                  <a:srgbClr val="58595B"/>
                </a:solidFill>
              </a:rPr>
              <a:t> hours</a:t>
            </a:r>
            <a:endParaRPr lang="en-US" sz="2400" dirty="0">
              <a:solidFill>
                <a:srgbClr val="58595B"/>
              </a:solidFill>
            </a:endParaRPr>
          </a:p>
        </p:txBody>
      </p:sp>
      <p:sp>
        <p:nvSpPr>
          <p:cNvPr id="4" name="Number label 1"/>
          <p:cNvSpPr txBox="1"/>
          <p:nvPr/>
        </p:nvSpPr>
        <p:spPr>
          <a:xfrm>
            <a:off x="868680" y="3154680"/>
            <a:ext cx="3154680" cy="914400"/>
          </a:xfrm>
          <a:prstGeom prst="rect">
            <a:avLst/>
          </a:prstGeom>
          <a:noFill/>
        </p:spPr>
        <p:txBody>
          <a:bodyPr wrap="square" lIns="0" tIns="0" rIns="0" bIns="0" anchor="t" rtlCol="0">
            <a:noAutofit/>
          </a:bodyPr>
          <a:lstStyle/>
          <a:p>
            <a:pPr algn="l">
              <a:buNone/>
            </a:pPr>
            <a:r>
              <a:rPr lang="en-US" sz="1600" dirty="0">
                <a:solidFill>
                  <a:srgbClr val="58595B"/>
                </a:solidFill>
              </a:rPr>
              <a:t>to find contacts for 300 companies, at five minutes each</a:t>
            </a:r>
            <a:endParaRPr lang="en-US" sz="1600" dirty="0">
              <a:solidFill>
                <a:srgbClr val="58595B"/>
              </a:solidFill>
            </a:endParaRPr>
          </a:p>
        </p:txBody>
      </p:sp>
      <p:sp>
        <p:nvSpPr>
          <p:cNvPr id="5" name="Number 2"/>
          <p:cNvSpPr txBox="1"/>
          <p:nvPr/>
        </p:nvSpPr>
        <p:spPr>
          <a:xfrm>
            <a:off x="4526280" y="1828800"/>
            <a:ext cx="3383280" cy="1188720"/>
          </a:xfrm>
          <a:prstGeom prst="rect">
            <a:avLst/>
          </a:prstGeom>
          <a:noFill/>
        </p:spPr>
        <p:txBody>
          <a:bodyPr wrap="square" lIns="0" tIns="0" rIns="0" bIns="0" anchor="b" rtlCol="0">
            <a:noAutofit/>
          </a:bodyPr>
          <a:lstStyle/>
          <a:p>
            <a:pPr algn="l">
              <a:buNone/>
            </a:pPr>
            <a:r>
              <a:rPr lang="en-US" sz="6600" b="1" dirty="0">
                <a:solidFill>
                  <a:srgbClr val="B7202E"/>
                </a:solidFill>
                <a:latin typeface="+mj-lt"/>
              </a:rPr>
              <a:t>23.5</a:t>
            </a:r>
            <a:r>
              <a:rPr lang="en-US" sz="2400" dirty="0">
                <a:solidFill>
                  <a:srgbClr val="58595B"/>
                </a:solidFill>
              </a:rPr>
              <a:t>%</a:t>
            </a:r>
            <a:endParaRPr lang="en-US" sz="2400" dirty="0">
              <a:solidFill>
                <a:srgbClr val="58595B"/>
              </a:solidFill>
            </a:endParaRPr>
          </a:p>
        </p:txBody>
      </p:sp>
      <p:sp>
        <p:nvSpPr>
          <p:cNvPr id="6" name="Number label 2"/>
          <p:cNvSpPr txBox="1"/>
          <p:nvPr/>
        </p:nvSpPr>
        <p:spPr>
          <a:xfrm>
            <a:off x="4526280" y="3154680"/>
            <a:ext cx="3154680" cy="914400"/>
          </a:xfrm>
          <a:prstGeom prst="rect">
            <a:avLst/>
          </a:prstGeom>
          <a:noFill/>
        </p:spPr>
        <p:txBody>
          <a:bodyPr wrap="square" lIns="0" tIns="0" rIns="0" bIns="0" anchor="t" rtlCol="0">
            <a:noAutofit/>
          </a:bodyPr>
          <a:lstStyle/>
          <a:p>
            <a:pPr algn="l">
              <a:buNone/>
            </a:pPr>
            <a:r>
              <a:rPr lang="en-US" sz="1600" dirty="0">
                <a:solidFill>
                  <a:srgbClr val="58595B"/>
                </a:solidFill>
              </a:rPr>
              <a:t>of the contacts I first collected belonged to the wrong company</a:t>
            </a:r>
            <a:endParaRPr lang="en-US" sz="1600" dirty="0">
              <a:solidFill>
                <a:srgbClr val="58595B"/>
              </a:solidFill>
            </a:endParaRPr>
          </a:p>
        </p:txBody>
      </p:sp>
      <p:sp>
        <p:nvSpPr>
          <p:cNvPr id="7" name="Number 3"/>
          <p:cNvSpPr txBox="1"/>
          <p:nvPr/>
        </p:nvSpPr>
        <p:spPr>
          <a:xfrm>
            <a:off x="8183880" y="1828800"/>
            <a:ext cx="3383280" cy="1188720"/>
          </a:xfrm>
          <a:prstGeom prst="rect">
            <a:avLst/>
          </a:prstGeom>
          <a:noFill/>
        </p:spPr>
        <p:txBody>
          <a:bodyPr wrap="square" lIns="0" tIns="0" rIns="0" bIns="0" anchor="b" rtlCol="0">
            <a:noAutofit/>
          </a:bodyPr>
          <a:lstStyle/>
          <a:p>
            <a:pPr algn="l">
              <a:buNone/>
            </a:pPr>
            <a:r>
              <a:rPr lang="en-US" sz="6600" b="1" dirty="0">
                <a:solidFill>
                  <a:srgbClr val="B7202E"/>
                </a:solidFill>
                <a:latin typeface="+mj-lt"/>
              </a:rPr>
              <a:t>20+</a:t>
            </a:r>
            <a:endParaRPr lang="en-US" sz="6600" b="1" dirty="0">
              <a:solidFill>
                <a:srgbClr val="B7202E"/>
              </a:solidFill>
              <a:latin typeface="+mj-lt"/>
            </a:endParaRPr>
          </a:p>
        </p:txBody>
      </p:sp>
      <p:sp>
        <p:nvSpPr>
          <p:cNvPr id="8" name="Number label 3"/>
          <p:cNvSpPr txBox="1"/>
          <p:nvPr/>
        </p:nvSpPr>
        <p:spPr>
          <a:xfrm>
            <a:off x="8183880" y="3154680"/>
            <a:ext cx="3154680" cy="914400"/>
          </a:xfrm>
          <a:prstGeom prst="rect">
            <a:avLst/>
          </a:prstGeom>
          <a:noFill/>
        </p:spPr>
        <p:txBody>
          <a:bodyPr wrap="square" lIns="0" tIns="0" rIns="0" bIns="0" anchor="t" rtlCol="0">
            <a:noAutofit/>
          </a:bodyPr>
          <a:lstStyle/>
          <a:p>
            <a:pPr algn="l">
              <a:buNone/>
            </a:pPr>
            <a:r>
              <a:rPr lang="en-US" sz="1600" dirty="0">
                <a:solidFill>
                  <a:srgbClr val="58595B"/>
                </a:solidFill>
              </a:rPr>
              <a:t>job portals, and no single one lists every opening</a:t>
            </a:r>
            <a:endParaRPr lang="en-US" sz="1600" dirty="0">
              <a:solidFill>
                <a:srgbClr val="58595B"/>
              </a:solidFill>
            </a:endParaRPr>
          </a:p>
        </p:txBody>
      </p:sp>
      <p:sp>
        <p:nvSpPr>
          <p:cNvPr id="9" name="Story line"/>
          <p:cNvSpPr txBox="1"/>
          <p:nvPr/>
        </p:nvSpPr>
        <p:spPr>
          <a:xfrm>
            <a:off x="868680" y="4572000"/>
            <a:ext cx="10424160" cy="1005840"/>
          </a:xfrm>
          <a:prstGeom prst="rect">
            <a:avLst/>
          </a:prstGeom>
          <a:noFill/>
        </p:spPr>
        <p:txBody>
          <a:bodyPr wrap="square" lIns="0" tIns="0" rIns="0" bIns="0" anchor="t" rtlCol="0">
            <a:noAutofit/>
          </a:bodyPr>
          <a:lstStyle/>
          <a:p>
            <a:pPr algn="l">
              <a:buNone/>
            </a:pPr>
            <a:r>
              <a:rPr lang="en-US" sz="2000" i="1" dirty="0">
                <a:solidFill>
                  <a:srgbClr val="58595B"/>
                </a:solidFill>
              </a:rPr>
              <a:t>The committee is students with coursework. When they graduate, the calls, notes and contacts leave with them.</a:t>
            </a:r>
            <a:endParaRPr lang="en-US" sz="2000" i="1" dirty="0">
              <a:solidFill>
                <a:srgbClr val="58595B"/>
              </a:solidFill>
            </a:endParaRPr>
          </a:p>
        </p:txBody>
      </p:sp>
      <p:sp>
        <p:nvSpPr>
          <p:cNvPr id="10" name="Slide Number Placeholder"/>
          <p:cNvSpPr>
            <a:spLocks noGrp="1"/>
          </p:cNvSpPr>
          <p:nvPr>
            <p:ph type="sldNum" sz="quarter" idx="12"/>
          </p:nvPr>
        </p:nvSpPr>
        <p:spPr/>
        <p:txBody>
          <a:bodyPr/>
          <a:lstStyle/>
          <a:p>
            <a:fld id="{0FF54DE5-C571-48E8-A5BC-B369434E2F44}" type="slidenum">
              <a:rPr lang="en-US"/>
              <a:t>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I built a tool for the tedious part</a:t>
            </a:r>
          </a:p>
        </p:txBody>
      </p:sp>
      <p:sp>
        <p:nvSpPr>
          <p:cNvPr id="3" name="Step number 1"/>
          <p:cNvSpPr txBox="1"/>
          <p:nvPr/>
        </p:nvSpPr>
        <p:spPr>
          <a:xfrm>
            <a:off x="868680" y="1508760"/>
            <a:ext cx="1463040" cy="777240"/>
          </a:xfrm>
          <a:prstGeom prst="rect">
            <a:avLst/>
          </a:prstGeom>
          <a:noFill/>
        </p:spPr>
        <p:txBody>
          <a:bodyPr wrap="square" lIns="0" tIns="0" rIns="0" bIns="0" anchor="t" rtlCol="0">
            <a:noAutofit/>
          </a:bodyPr>
          <a:lstStyle/>
          <a:p>
            <a:pPr algn="l">
              <a:buNone/>
            </a:pPr>
            <a:r>
              <a:rPr lang="en-US" sz="4000" b="1" dirty="0">
                <a:solidFill>
                  <a:srgbClr val="D9D9D9"/>
                </a:solidFill>
                <a:latin typeface="+mj-lt"/>
              </a:rPr>
              <a:t>01</a:t>
            </a:r>
            <a:endParaRPr lang="en-US" sz="4000" b="1" dirty="0">
              <a:solidFill>
                <a:srgbClr val="D9D9D9"/>
              </a:solidFill>
              <a:latin typeface="+mj-lt"/>
            </a:endParaRPr>
          </a:p>
        </p:txBody>
      </p:sp>
      <p:sp>
        <p:nvSpPr>
          <p:cNvPr id="4" name="Step title 1"/>
          <p:cNvSpPr txBox="1"/>
          <p:nvPr/>
        </p:nvSpPr>
        <p:spPr>
          <a:xfrm>
            <a:off x="868680" y="2377440"/>
            <a:ext cx="1965960" cy="731520"/>
          </a:xfrm>
          <a:prstGeom prst="rect">
            <a:avLst/>
          </a:prstGeom>
          <a:noFill/>
        </p:spPr>
        <p:txBody>
          <a:bodyPr wrap="square" lIns="0" tIns="0" rIns="0" bIns="0" anchor="t" rtlCol="0">
            <a:noAutofit/>
          </a:bodyPr>
          <a:lstStyle/>
          <a:p>
            <a:pPr algn="l">
              <a:buNone/>
            </a:pPr>
            <a:r>
              <a:rPr lang="en-US" sz="1900" b="1" dirty="0">
                <a:solidFill>
                  <a:srgbClr val="231F20"/>
                </a:solidFill>
              </a:rPr>
              <a:t>Finds jobs</a:t>
            </a:r>
            <a:endParaRPr lang="en-US" sz="1900" b="1" dirty="0">
              <a:solidFill>
                <a:srgbClr val="231F20"/>
              </a:solidFill>
            </a:endParaRPr>
          </a:p>
        </p:txBody>
      </p:sp>
      <p:sp>
        <p:nvSpPr>
          <p:cNvPr id="5" name="Step text 1"/>
          <p:cNvSpPr txBox="1"/>
          <p:nvPr/>
        </p:nvSpPr>
        <p:spPr>
          <a:xfrm>
            <a:off x="868680" y="3154680"/>
            <a:ext cx="1965960" cy="1463040"/>
          </a:xfrm>
          <a:prstGeom prst="rect">
            <a:avLst/>
          </a:prstGeom>
          <a:noFill/>
        </p:spPr>
        <p:txBody>
          <a:bodyPr wrap="square" lIns="0" tIns="0" rIns="0" bIns="0" anchor="t" rtlCol="0">
            <a:noAutofit/>
          </a:bodyPr>
          <a:lstStyle/>
          <a:p>
            <a:pPr algn="l">
              <a:buNone/>
            </a:pPr>
            <a:r>
              <a:rPr lang="en-US" sz="1500" dirty="0">
                <a:solidFill>
                  <a:srgbClr val="58595B"/>
                </a:solidFill>
              </a:rPr>
              <a:t>on 23 boards at once, keeping tech roles</a:t>
            </a:r>
            <a:endParaRPr lang="en-US" sz="1500" dirty="0">
              <a:solidFill>
                <a:srgbClr val="58595B"/>
              </a:solidFill>
            </a:endParaRPr>
          </a:p>
        </p:txBody>
      </p:sp>
      <p:sp>
        <p:nvSpPr>
          <p:cNvPr id="6" name="Step number 2"/>
          <p:cNvSpPr txBox="1"/>
          <p:nvPr/>
        </p:nvSpPr>
        <p:spPr>
          <a:xfrm>
            <a:off x="3044952" y="1508760"/>
            <a:ext cx="1463040" cy="777240"/>
          </a:xfrm>
          <a:prstGeom prst="rect">
            <a:avLst/>
          </a:prstGeom>
          <a:noFill/>
        </p:spPr>
        <p:txBody>
          <a:bodyPr wrap="square" lIns="0" tIns="0" rIns="0" bIns="0" anchor="t" rtlCol="0">
            <a:noAutofit/>
          </a:bodyPr>
          <a:lstStyle/>
          <a:p>
            <a:pPr algn="l">
              <a:buNone/>
            </a:pPr>
            <a:r>
              <a:rPr lang="en-US" sz="4000" b="1" dirty="0">
                <a:solidFill>
                  <a:srgbClr val="D9D9D9"/>
                </a:solidFill>
                <a:latin typeface="+mj-lt"/>
              </a:rPr>
              <a:t>02</a:t>
            </a:r>
            <a:endParaRPr lang="en-US" sz="4000" b="1" dirty="0">
              <a:solidFill>
                <a:srgbClr val="D9D9D9"/>
              </a:solidFill>
              <a:latin typeface="+mj-lt"/>
            </a:endParaRPr>
          </a:p>
        </p:txBody>
      </p:sp>
      <p:sp>
        <p:nvSpPr>
          <p:cNvPr id="7" name="Step title 2"/>
          <p:cNvSpPr txBox="1"/>
          <p:nvPr/>
        </p:nvSpPr>
        <p:spPr>
          <a:xfrm>
            <a:off x="3044952" y="2377440"/>
            <a:ext cx="1965960" cy="731520"/>
          </a:xfrm>
          <a:prstGeom prst="rect">
            <a:avLst/>
          </a:prstGeom>
          <a:noFill/>
        </p:spPr>
        <p:txBody>
          <a:bodyPr wrap="square" lIns="0" tIns="0" rIns="0" bIns="0" anchor="t" rtlCol="0">
            <a:noAutofit/>
          </a:bodyPr>
          <a:lstStyle/>
          <a:p>
            <a:pPr algn="l">
              <a:buNone/>
            </a:pPr>
            <a:r>
              <a:rPr lang="en-US" sz="1900" b="1" dirty="0">
                <a:solidFill>
                  <a:srgbClr val="231F20"/>
                </a:solidFill>
              </a:rPr>
              <a:t>Checks the company</a:t>
            </a:r>
            <a:endParaRPr lang="en-US" sz="1900" b="1" dirty="0">
              <a:solidFill>
                <a:srgbClr val="231F20"/>
              </a:solidFill>
            </a:endParaRPr>
          </a:p>
        </p:txBody>
      </p:sp>
      <p:sp>
        <p:nvSpPr>
          <p:cNvPr id="8" name="Step text 2"/>
          <p:cNvSpPr txBox="1"/>
          <p:nvPr/>
        </p:nvSpPr>
        <p:spPr>
          <a:xfrm>
            <a:off x="3044952" y="3154680"/>
            <a:ext cx="1965960" cy="1463040"/>
          </a:xfrm>
          <a:prstGeom prst="rect">
            <a:avLst/>
          </a:prstGeom>
          <a:noFill/>
        </p:spPr>
        <p:txBody>
          <a:bodyPr wrap="square" lIns="0" tIns="0" rIns="0" bIns="0" anchor="t" rtlCol="0">
            <a:noAutofit/>
          </a:bodyPr>
          <a:lstStyle/>
          <a:p>
            <a:pPr algn="l">
              <a:buNone/>
            </a:pPr>
            <a:r>
              <a:rPr lang="en-US" sz="1500" dirty="0">
                <a:solidFill>
                  <a:srgbClr val="58595B"/>
                </a:solidFill>
              </a:rPr>
              <a:t>by confirming its real website first</a:t>
            </a:r>
            <a:endParaRPr lang="en-US" sz="1500" dirty="0">
              <a:solidFill>
                <a:srgbClr val="58595B"/>
              </a:solidFill>
            </a:endParaRPr>
          </a:p>
        </p:txBody>
      </p:sp>
      <p:sp>
        <p:nvSpPr>
          <p:cNvPr id="9" name="Step number 3"/>
          <p:cNvSpPr txBox="1"/>
          <p:nvPr/>
        </p:nvSpPr>
        <p:spPr>
          <a:xfrm>
            <a:off x="5221224" y="1508760"/>
            <a:ext cx="1463040" cy="777240"/>
          </a:xfrm>
          <a:prstGeom prst="rect">
            <a:avLst/>
          </a:prstGeom>
          <a:noFill/>
        </p:spPr>
        <p:txBody>
          <a:bodyPr wrap="square" lIns="0" tIns="0" rIns="0" bIns="0" anchor="t" rtlCol="0">
            <a:noAutofit/>
          </a:bodyPr>
          <a:lstStyle/>
          <a:p>
            <a:pPr algn="l">
              <a:buNone/>
            </a:pPr>
            <a:r>
              <a:rPr lang="en-US" sz="4000" b="1" dirty="0">
                <a:solidFill>
                  <a:srgbClr val="D9D9D9"/>
                </a:solidFill>
                <a:latin typeface="+mj-lt"/>
              </a:rPr>
              <a:t>03</a:t>
            </a:r>
            <a:endParaRPr lang="en-US" sz="4000" b="1" dirty="0">
              <a:solidFill>
                <a:srgbClr val="D9D9D9"/>
              </a:solidFill>
              <a:latin typeface="+mj-lt"/>
            </a:endParaRPr>
          </a:p>
        </p:txBody>
      </p:sp>
      <p:sp>
        <p:nvSpPr>
          <p:cNvPr id="10" name="Step title 3"/>
          <p:cNvSpPr txBox="1"/>
          <p:nvPr/>
        </p:nvSpPr>
        <p:spPr>
          <a:xfrm>
            <a:off x="5221224" y="2377440"/>
            <a:ext cx="1965960" cy="731520"/>
          </a:xfrm>
          <a:prstGeom prst="rect">
            <a:avLst/>
          </a:prstGeom>
          <a:noFill/>
        </p:spPr>
        <p:txBody>
          <a:bodyPr wrap="square" lIns="0" tIns="0" rIns="0" bIns="0" anchor="t" rtlCol="0">
            <a:noAutofit/>
          </a:bodyPr>
          <a:lstStyle/>
          <a:p>
            <a:pPr algn="l">
              <a:buNone/>
            </a:pPr>
            <a:r>
              <a:rPr lang="en-US" sz="1900" b="1" dirty="0">
                <a:solidFill>
                  <a:srgbClr val="231F20"/>
                </a:solidFill>
              </a:rPr>
              <a:t>Finds contacts</a:t>
            </a:r>
            <a:endParaRPr lang="en-US" sz="1900" b="1" dirty="0">
              <a:solidFill>
                <a:srgbClr val="231F20"/>
              </a:solidFill>
            </a:endParaRPr>
          </a:p>
        </p:txBody>
      </p:sp>
      <p:sp>
        <p:nvSpPr>
          <p:cNvPr id="11" name="Step text 3"/>
          <p:cNvSpPr txBox="1"/>
          <p:nvPr/>
        </p:nvSpPr>
        <p:spPr>
          <a:xfrm>
            <a:off x="5221224" y="3154680"/>
            <a:ext cx="1965960" cy="1463040"/>
          </a:xfrm>
          <a:prstGeom prst="rect">
            <a:avLst/>
          </a:prstGeom>
          <a:noFill/>
        </p:spPr>
        <p:txBody>
          <a:bodyPr wrap="square" lIns="0" tIns="0" rIns="0" bIns="0" anchor="t" rtlCol="0">
            <a:noAutofit/>
          </a:bodyPr>
          <a:lstStyle/>
          <a:p>
            <a:pPr algn="l">
              <a:buNone/>
            </a:pPr>
            <a:r>
              <a:rPr lang="en-US" sz="1500" dirty="0">
                <a:solidFill>
                  <a:srgbClr val="58595B"/>
                </a:solidFill>
              </a:rPr>
              <a:t>HR emails and phones, with where each came from</a:t>
            </a:r>
            <a:endParaRPr lang="en-US" sz="1500" dirty="0">
              <a:solidFill>
                <a:srgbClr val="58595B"/>
              </a:solidFill>
            </a:endParaRPr>
          </a:p>
        </p:txBody>
      </p:sp>
      <p:sp>
        <p:nvSpPr>
          <p:cNvPr id="12" name="Step number 4"/>
          <p:cNvSpPr txBox="1"/>
          <p:nvPr/>
        </p:nvSpPr>
        <p:spPr>
          <a:xfrm>
            <a:off x="7397496" y="1508760"/>
            <a:ext cx="1463040" cy="777240"/>
          </a:xfrm>
          <a:prstGeom prst="rect">
            <a:avLst/>
          </a:prstGeom>
          <a:noFill/>
        </p:spPr>
        <p:txBody>
          <a:bodyPr wrap="square" lIns="0" tIns="0" rIns="0" bIns="0" anchor="t" rtlCol="0">
            <a:noAutofit/>
          </a:bodyPr>
          <a:lstStyle/>
          <a:p>
            <a:pPr algn="l">
              <a:buNone/>
            </a:pPr>
            <a:r>
              <a:rPr lang="en-US" sz="4000" b="1" dirty="0">
                <a:solidFill>
                  <a:srgbClr val="D9D9D9"/>
                </a:solidFill>
                <a:latin typeface="+mj-lt"/>
              </a:rPr>
              <a:t>04</a:t>
            </a:r>
            <a:endParaRPr lang="en-US" sz="4000" b="1" dirty="0">
              <a:solidFill>
                <a:srgbClr val="D9D9D9"/>
              </a:solidFill>
              <a:latin typeface="+mj-lt"/>
            </a:endParaRPr>
          </a:p>
        </p:txBody>
      </p:sp>
      <p:sp>
        <p:nvSpPr>
          <p:cNvPr id="13" name="Step title 4"/>
          <p:cNvSpPr txBox="1"/>
          <p:nvPr/>
        </p:nvSpPr>
        <p:spPr>
          <a:xfrm>
            <a:off x="7397496" y="2377440"/>
            <a:ext cx="1965960" cy="731520"/>
          </a:xfrm>
          <a:prstGeom prst="rect">
            <a:avLst/>
          </a:prstGeom>
          <a:noFill/>
        </p:spPr>
        <p:txBody>
          <a:bodyPr wrap="square" lIns="0" tIns="0" rIns="0" bIns="0" anchor="t" rtlCol="0">
            <a:noAutofit/>
          </a:bodyPr>
          <a:lstStyle/>
          <a:p>
            <a:pPr algn="l">
              <a:buNone/>
            </a:pPr>
            <a:r>
              <a:rPr lang="en-US" sz="1900" b="1" dirty="0">
                <a:solidFill>
                  <a:srgbClr val="231F20"/>
                </a:solidFill>
              </a:rPr>
              <a:t>Scores them</a:t>
            </a:r>
            <a:endParaRPr lang="en-US" sz="1900" b="1" dirty="0">
              <a:solidFill>
                <a:srgbClr val="231F20"/>
              </a:solidFill>
            </a:endParaRPr>
          </a:p>
        </p:txBody>
      </p:sp>
      <p:sp>
        <p:nvSpPr>
          <p:cNvPr id="14" name="Step text 4"/>
          <p:cNvSpPr txBox="1"/>
          <p:nvPr/>
        </p:nvSpPr>
        <p:spPr>
          <a:xfrm>
            <a:off x="7397496" y="3154680"/>
            <a:ext cx="1965960" cy="1463040"/>
          </a:xfrm>
          <a:prstGeom prst="rect">
            <a:avLst/>
          </a:prstGeom>
          <a:noFill/>
        </p:spPr>
        <p:txBody>
          <a:bodyPr wrap="square" lIns="0" tIns="0" rIns="0" bIns="0" anchor="t" rtlCol="0">
            <a:noAutofit/>
          </a:bodyPr>
          <a:lstStyle/>
          <a:p>
            <a:pPr algn="l">
              <a:buNone/>
            </a:pPr>
            <a:r>
              <a:rPr lang="en-US" sz="1500" dirty="0">
                <a:solidFill>
                  <a:srgbClr val="58595B"/>
                </a:solidFill>
              </a:rPr>
              <a:t>so the most reliable ones get called first</a:t>
            </a:r>
            <a:endParaRPr lang="en-US" sz="1500" dirty="0">
              <a:solidFill>
                <a:srgbClr val="58595B"/>
              </a:solidFill>
            </a:endParaRPr>
          </a:p>
        </p:txBody>
      </p:sp>
      <p:sp>
        <p:nvSpPr>
          <p:cNvPr id="15" name="Step number 5"/>
          <p:cNvSpPr txBox="1"/>
          <p:nvPr/>
        </p:nvSpPr>
        <p:spPr>
          <a:xfrm>
            <a:off x="9573768" y="1508760"/>
            <a:ext cx="1463040" cy="777240"/>
          </a:xfrm>
          <a:prstGeom prst="rect">
            <a:avLst/>
          </a:prstGeom>
          <a:noFill/>
        </p:spPr>
        <p:txBody>
          <a:bodyPr wrap="square" lIns="0" tIns="0" rIns="0" bIns="0" anchor="t" rtlCol="0">
            <a:noAutofit/>
          </a:bodyPr>
          <a:lstStyle/>
          <a:p>
            <a:pPr algn="l">
              <a:buNone/>
            </a:pPr>
            <a:r>
              <a:rPr lang="en-US" sz="4000" b="1" dirty="0">
                <a:solidFill>
                  <a:srgbClr val="D9D9D9"/>
                </a:solidFill>
                <a:latin typeface="+mj-lt"/>
              </a:rPr>
              <a:t>05</a:t>
            </a:r>
            <a:endParaRPr lang="en-US" sz="4000" b="1" dirty="0">
              <a:solidFill>
                <a:srgbClr val="D9D9D9"/>
              </a:solidFill>
              <a:latin typeface="+mj-lt"/>
            </a:endParaRPr>
          </a:p>
        </p:txBody>
      </p:sp>
      <p:sp>
        <p:nvSpPr>
          <p:cNvPr id="16" name="Step title 5"/>
          <p:cNvSpPr txBox="1"/>
          <p:nvPr/>
        </p:nvSpPr>
        <p:spPr>
          <a:xfrm>
            <a:off x="9573768" y="2377440"/>
            <a:ext cx="1965960" cy="731520"/>
          </a:xfrm>
          <a:prstGeom prst="rect">
            <a:avLst/>
          </a:prstGeom>
          <a:noFill/>
        </p:spPr>
        <p:txBody>
          <a:bodyPr wrap="square" lIns="0" tIns="0" rIns="0" bIns="0" anchor="t" rtlCol="0">
            <a:noAutofit/>
          </a:bodyPr>
          <a:lstStyle/>
          <a:p>
            <a:pPr algn="l">
              <a:buNone/>
            </a:pPr>
            <a:r>
              <a:rPr lang="en-US" sz="1900" b="1" dirty="0">
                <a:solidFill>
                  <a:srgbClr val="231F20"/>
                </a:solidFill>
              </a:rPr>
              <a:t>Tracks the outreach</a:t>
            </a:r>
            <a:endParaRPr lang="en-US" sz="1900" b="1" dirty="0">
              <a:solidFill>
                <a:srgbClr val="231F20"/>
              </a:solidFill>
            </a:endParaRPr>
          </a:p>
        </p:txBody>
      </p:sp>
      <p:sp>
        <p:nvSpPr>
          <p:cNvPr id="17" name="Step text 5"/>
          <p:cNvSpPr txBox="1"/>
          <p:nvPr/>
        </p:nvSpPr>
        <p:spPr>
          <a:xfrm>
            <a:off x="9573768" y="3154680"/>
            <a:ext cx="1965960" cy="1463040"/>
          </a:xfrm>
          <a:prstGeom prst="rect">
            <a:avLst/>
          </a:prstGeom>
          <a:noFill/>
        </p:spPr>
        <p:txBody>
          <a:bodyPr wrap="square" lIns="0" tIns="0" rIns="0" bIns="0" anchor="t" rtlCol="0">
            <a:noAutofit/>
          </a:bodyPr>
          <a:lstStyle/>
          <a:p>
            <a:pPr algn="l">
              <a:buNone/>
            </a:pPr>
            <a:r>
              <a:rPr lang="en-US" sz="1500" dirty="0">
                <a:solidFill>
                  <a:srgbClr val="58595B"/>
                </a:solidFill>
              </a:rPr>
              <a:t>a call sheet, pipeline and history the whole committee shares</a:t>
            </a:r>
            <a:endParaRPr lang="en-US" sz="1500" dirty="0">
              <a:solidFill>
                <a:srgbClr val="58595B"/>
              </a:solidFill>
            </a:endParaRPr>
          </a:p>
        </p:txBody>
      </p:sp>
      <p:sp>
        <p:nvSpPr>
          <p:cNvPr id="18" name="Cost note"/>
          <p:cNvSpPr/>
          <p:nvPr/>
        </p:nvSpPr>
        <p:spPr>
          <a:xfrm>
            <a:off x="868680" y="4846320"/>
            <a:ext cx="10698480" cy="868680"/>
          </a:xfrm>
          <a:prstGeom prst="roundRect">
            <a:avLst>
              <a:gd name="adj" fmla="val 6000"/>
            </a:avLst>
          </a:prstGeom>
          <a:solidFill>
            <a:srgbClr val="F2F2F2"/>
          </a:solidFill>
          <a:ln>
            <a:noFill/>
          </a:ln>
        </p:spPr>
        <p:txBody>
          <a:bodyPr wrap="square" lIns="274320" tIns="137160" rIns="274320" bIns="137160" anchor="ctr" rtlCol="0">
            <a:noAutofit/>
          </a:bodyPr>
          <a:lstStyle/>
          <a:p>
            <a:pPr algn="l">
              <a:buNone/>
            </a:pPr>
            <a:r>
              <a:rPr lang="en-US" sz="1500" b="1" dirty="0">
                <a:solidFill>
                  <a:srgbClr val="231F20"/>
                </a:solidFill>
              </a:rPr>
              <a:t>It costs nothing to run.  </a:t>
            </a:r>
            <a:r>
              <a:rPr lang="en-US" sz="1500" dirty="0">
                <a:solidFill>
                  <a:srgbClr val="58595B"/>
                </a:solidFill>
              </a:rPr>
              <a:t>Render's free plan hosts it, GitHub Actions does the heavy scraping, and MongoDB Atlas's free tier stores the data.</a:t>
            </a:r>
            <a:endParaRPr lang="en-US" sz="1500" dirty="0">
              <a:solidFill>
                <a:srgbClr val="58595B"/>
              </a:solidFill>
            </a:endParaRPr>
          </a:p>
        </p:txBody>
      </p:sp>
      <p:sp>
        <p:nvSpPr>
          <p:cNvPr id="19" name="Slide Number Placeholder"/>
          <p:cNvSpPr>
            <a:spLocks noGrp="1"/>
          </p:cNvSpPr>
          <p:nvPr>
            <p:ph type="sldNum" sz="quarter" idx="12"/>
          </p:nvPr>
        </p:nvSpPr>
        <p:spPr/>
        <p:txBody>
          <a:bodyPr/>
          <a:lstStyle/>
          <a:p>
            <a:fld id="{0FF54DE5-C571-48E8-A5BC-B369434E2F44}" type="slidenum">
              <a:rPr lang="en-US"/>
              <a:t>3</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the pieces fit together</a:t>
            </a:r>
          </a:p>
        </p:txBody>
      </p:sp>
      <p:sp>
        <p:nvSpPr>
          <p:cNvPr id="3" name="Browser app"/>
          <p:cNvSpPr/>
          <p:nvPr/>
        </p:nvSpPr>
        <p:spPr>
          <a:xfrm>
            <a:off x="868680" y="1691640"/>
            <a:ext cx="2834640" cy="1097280"/>
          </a:xfrm>
          <a:prstGeom prst="roundRect">
            <a:avLst>
              <a:gd name="adj" fmla="val 6000"/>
            </a:avLst>
          </a:prstGeom>
          <a:solidFill>
            <a:srgbClr val="FFFFFF"/>
          </a:solidFill>
          <a:ln w="15875">
            <a:solidFill>
              <a:srgbClr val="BFBFBF"/>
            </a:solidFill>
          </a:ln>
        </p:spPr>
        <p:txBody>
          <a:bodyPr wrap="square" lIns="137160" tIns="68580" rIns="137160" bIns="68580" anchor="ctr" rtlCol="0">
            <a:noAutofit/>
          </a:bodyPr>
          <a:lstStyle/>
          <a:p>
            <a:pPr algn="ctr">
              <a:buNone/>
            </a:pPr>
            <a:r>
              <a:rPr lang="en-US" sz="1700" b="1" dirty="0">
                <a:solidFill>
                  <a:srgbClr val="231F20"/>
                </a:solidFill>
              </a:rPr>
              <a:t>Browser app</a:t>
            </a:r>
            <a:endParaRPr lang="en-US" sz="1700" b="1" dirty="0">
              <a:solidFill>
                <a:srgbClr val="231F20"/>
              </a:solidFill>
            </a:endParaRPr>
          </a:p>
          <a:p>
            <a:pPr algn="ctr">
              <a:buNone/>
            </a:pPr>
            <a:r>
              <a:rPr lang="en-US" sz="1300" dirty="0">
                <a:solidFill>
                  <a:srgbClr val="58595B"/>
                </a:solidFill>
              </a:rPr>
              <a:t>React, works on phones</a:t>
            </a:r>
            <a:endParaRPr lang="en-US" sz="1300" dirty="0">
              <a:solidFill>
                <a:srgbClr val="58595B"/>
              </a:solidFill>
            </a:endParaRPr>
          </a:p>
        </p:txBody>
      </p:sp>
      <p:sp>
        <p:nvSpPr>
          <p:cNvPr id="4" name="Flask API"/>
          <p:cNvSpPr/>
          <p:nvPr/>
        </p:nvSpPr>
        <p:spPr>
          <a:xfrm>
            <a:off x="4663440" y="1691640"/>
            <a:ext cx="2834640" cy="1097280"/>
          </a:xfrm>
          <a:prstGeom prst="roundRect">
            <a:avLst>
              <a:gd name="adj" fmla="val 6000"/>
            </a:avLst>
          </a:prstGeom>
          <a:solidFill>
            <a:srgbClr val="B7202E"/>
          </a:solidFill>
          <a:ln w="15875">
            <a:solidFill>
              <a:srgbClr val="B7202E"/>
            </a:solidFill>
          </a:ln>
        </p:spPr>
        <p:txBody>
          <a:bodyPr wrap="square" lIns="137160" tIns="68580" rIns="137160" bIns="68580" anchor="ctr" rtlCol="0">
            <a:noAutofit/>
          </a:bodyPr>
          <a:lstStyle/>
          <a:p>
            <a:pPr algn="ctr">
              <a:buNone/>
            </a:pPr>
            <a:r>
              <a:rPr lang="en-US" sz="1700" b="1" dirty="0">
                <a:solidFill>
                  <a:srgbClr val="FFFFFF"/>
                </a:solidFill>
              </a:rPr>
              <a:t>Flask API</a:t>
            </a:r>
            <a:endParaRPr lang="en-US" sz="1700" b="1" dirty="0">
              <a:solidFill>
                <a:srgbClr val="FFFFFF"/>
              </a:solidFill>
            </a:endParaRPr>
          </a:p>
          <a:p>
            <a:pPr algn="ctr">
              <a:buNone/>
            </a:pPr>
            <a:r>
              <a:rPr lang="en-US" sz="1300" dirty="0">
                <a:solidFill>
                  <a:srgbClr val="FFFFFF"/>
                </a:solidFill>
              </a:rPr>
              <a:t>on Render, with sign-in</a:t>
            </a:r>
            <a:endParaRPr lang="en-US" sz="1300" dirty="0">
              <a:solidFill>
                <a:srgbClr val="FFFFFF"/>
              </a:solidFill>
            </a:endParaRPr>
          </a:p>
        </p:txBody>
      </p:sp>
      <p:sp>
        <p:nvSpPr>
          <p:cNvPr id="5" name="Gmail"/>
          <p:cNvSpPr/>
          <p:nvPr/>
        </p:nvSpPr>
        <p:spPr>
          <a:xfrm>
            <a:off x="8458200" y="1691640"/>
            <a:ext cx="2834640" cy="1097280"/>
          </a:xfrm>
          <a:prstGeom prst="roundRect">
            <a:avLst>
              <a:gd name="adj" fmla="val 6000"/>
            </a:avLst>
          </a:prstGeom>
          <a:solidFill>
            <a:srgbClr val="FFFFFF"/>
          </a:solidFill>
          <a:ln w="15875">
            <a:solidFill>
              <a:srgbClr val="BFBFBF"/>
            </a:solidFill>
          </a:ln>
        </p:spPr>
        <p:txBody>
          <a:bodyPr wrap="square" lIns="137160" tIns="68580" rIns="137160" bIns="68580" anchor="ctr" rtlCol="0">
            <a:noAutofit/>
          </a:bodyPr>
          <a:lstStyle/>
          <a:p>
            <a:pPr algn="ctr">
              <a:buNone/>
            </a:pPr>
            <a:r>
              <a:rPr lang="en-US" sz="1700" b="1" dirty="0">
                <a:solidFill>
                  <a:srgbClr val="231F20"/>
                </a:solidFill>
              </a:rPr>
              <a:t>Gmail</a:t>
            </a:r>
            <a:endParaRPr lang="en-US" sz="1700" b="1" dirty="0">
              <a:solidFill>
                <a:srgbClr val="231F20"/>
              </a:solidFill>
            </a:endParaRPr>
          </a:p>
          <a:p>
            <a:pPr algn="ctr">
              <a:buNone/>
            </a:pPr>
            <a:r>
              <a:rPr lang="en-US" sz="1300" dirty="0">
                <a:solidFill>
                  <a:srgbClr val="58595B"/>
                </a:solidFill>
              </a:rPr>
              <a:t>cold emails, follow-ups</a:t>
            </a:r>
            <a:endParaRPr lang="en-US" sz="1300" dirty="0">
              <a:solidFill>
                <a:srgbClr val="58595B"/>
              </a:solidFill>
            </a:endParaRPr>
          </a:p>
        </p:txBody>
      </p:sp>
      <p:sp>
        <p:nvSpPr>
          <p:cNvPr id="6" name="The web"/>
          <p:cNvSpPr/>
          <p:nvPr/>
        </p:nvSpPr>
        <p:spPr>
          <a:xfrm>
            <a:off x="868680" y="3794760"/>
            <a:ext cx="2834640" cy="1097280"/>
          </a:xfrm>
          <a:prstGeom prst="roundRect">
            <a:avLst>
              <a:gd name="adj" fmla="val 6000"/>
            </a:avLst>
          </a:prstGeom>
          <a:solidFill>
            <a:srgbClr val="FFFFFF"/>
          </a:solidFill>
          <a:ln w="15875">
            <a:solidFill>
              <a:srgbClr val="BFBFBF"/>
            </a:solidFill>
          </a:ln>
        </p:spPr>
        <p:txBody>
          <a:bodyPr wrap="square" lIns="137160" tIns="68580" rIns="137160" bIns="68580" anchor="ctr" rtlCol="0">
            <a:noAutofit/>
          </a:bodyPr>
          <a:lstStyle/>
          <a:p>
            <a:pPr algn="ctr">
              <a:buNone/>
            </a:pPr>
            <a:r>
              <a:rPr lang="en-US" sz="1700" b="1" dirty="0">
                <a:solidFill>
                  <a:srgbClr val="231F20"/>
                </a:solidFill>
              </a:rPr>
              <a:t>The web</a:t>
            </a:r>
            <a:endParaRPr lang="en-US" sz="1700" b="1" dirty="0">
              <a:solidFill>
                <a:srgbClr val="231F20"/>
              </a:solidFill>
            </a:endParaRPr>
          </a:p>
          <a:p>
            <a:pPr algn="ctr">
              <a:buNone/>
            </a:pPr>
            <a:r>
              <a:rPr lang="en-US" sz="1300" dirty="0">
                <a:solidFill>
                  <a:srgbClr val="58595B"/>
                </a:solidFill>
              </a:rPr>
              <a:t>job boards, websites, maps</a:t>
            </a:r>
            <a:endParaRPr lang="en-US" sz="1300" dirty="0">
              <a:solidFill>
                <a:srgbClr val="58595B"/>
              </a:solidFill>
            </a:endParaRPr>
          </a:p>
        </p:txBody>
      </p:sp>
      <p:sp>
        <p:nvSpPr>
          <p:cNvPr id="7" name="GitHub Actions"/>
          <p:cNvSpPr/>
          <p:nvPr/>
        </p:nvSpPr>
        <p:spPr>
          <a:xfrm>
            <a:off x="4663440" y="3794760"/>
            <a:ext cx="2834640" cy="1097280"/>
          </a:xfrm>
          <a:prstGeom prst="roundRect">
            <a:avLst>
              <a:gd name="adj" fmla="val 6000"/>
            </a:avLst>
          </a:prstGeom>
          <a:solidFill>
            <a:srgbClr val="FFFFFF"/>
          </a:solidFill>
          <a:ln w="15875">
            <a:solidFill>
              <a:srgbClr val="BFBFBF"/>
            </a:solidFill>
          </a:ln>
        </p:spPr>
        <p:txBody>
          <a:bodyPr wrap="square" lIns="137160" tIns="68580" rIns="137160" bIns="68580" anchor="ctr" rtlCol="0">
            <a:noAutofit/>
          </a:bodyPr>
          <a:lstStyle/>
          <a:p>
            <a:pPr algn="ctr">
              <a:buNone/>
            </a:pPr>
            <a:r>
              <a:rPr lang="en-US" sz="1700" b="1" dirty="0">
                <a:solidFill>
                  <a:srgbClr val="231F20"/>
                </a:solidFill>
              </a:rPr>
              <a:t>GitHub Actions</a:t>
            </a:r>
            <a:endParaRPr lang="en-US" sz="1700" b="1" dirty="0">
              <a:solidFill>
                <a:srgbClr val="231F20"/>
              </a:solidFill>
            </a:endParaRPr>
          </a:p>
          <a:p>
            <a:pPr algn="ctr">
              <a:buNone/>
            </a:pPr>
            <a:r>
              <a:rPr lang="en-US" sz="1300" dirty="0">
                <a:solidFill>
                  <a:srgbClr val="58595B"/>
                </a:solidFill>
              </a:rPr>
              <a:t>runs the scraper</a:t>
            </a:r>
            <a:endParaRPr lang="en-US" sz="1300" dirty="0">
              <a:solidFill>
                <a:srgbClr val="58595B"/>
              </a:solidFill>
            </a:endParaRPr>
          </a:p>
        </p:txBody>
      </p:sp>
      <p:sp>
        <p:nvSpPr>
          <p:cNvPr id="8" name="MongoDB Atlas"/>
          <p:cNvSpPr/>
          <p:nvPr/>
        </p:nvSpPr>
        <p:spPr>
          <a:xfrm>
            <a:off x="8458200" y="3794760"/>
            <a:ext cx="2834640" cy="1097280"/>
          </a:xfrm>
          <a:prstGeom prst="roundRect">
            <a:avLst>
              <a:gd name="adj" fmla="val 6000"/>
            </a:avLst>
          </a:prstGeom>
          <a:solidFill>
            <a:srgbClr val="FFFFFF"/>
          </a:solidFill>
          <a:ln w="15875">
            <a:solidFill>
              <a:srgbClr val="BFBFBF"/>
            </a:solidFill>
          </a:ln>
        </p:spPr>
        <p:txBody>
          <a:bodyPr wrap="square" lIns="137160" tIns="68580" rIns="137160" bIns="68580" anchor="ctr" rtlCol="0">
            <a:noAutofit/>
          </a:bodyPr>
          <a:lstStyle/>
          <a:p>
            <a:pPr algn="ctr">
              <a:buNone/>
            </a:pPr>
            <a:r>
              <a:rPr lang="en-US" sz="1700" b="1" dirty="0">
                <a:solidFill>
                  <a:srgbClr val="231F20"/>
                </a:solidFill>
              </a:rPr>
              <a:t>MongoDB Atlas</a:t>
            </a:r>
            <a:endParaRPr lang="en-US" sz="1700" b="1" dirty="0">
              <a:solidFill>
                <a:srgbClr val="231F20"/>
              </a:solidFill>
            </a:endParaRPr>
          </a:p>
          <a:p>
            <a:pPr algn="ctr">
              <a:buNone/>
            </a:pPr>
            <a:r>
              <a:rPr lang="en-US" sz="1300" dirty="0">
                <a:solidFill>
                  <a:srgbClr val="58595B"/>
                </a:solidFill>
              </a:rPr>
              <a:t>jobs + separate logins</a:t>
            </a:r>
            <a:endParaRPr lang="en-US" sz="1300" dirty="0">
              <a:solidFill>
                <a:srgbClr val="58595B"/>
              </a:solidFill>
            </a:endParaRPr>
          </a:p>
        </p:txBody>
      </p:sp>
      <p:cxnSp>
        <p:nvCxnSpPr>
          <p:cNvPr id="9" name="Arrow 1"/>
          <p:cNvCxnSpPr/>
          <p:nvPr/>
        </p:nvCxnSpPr>
        <p:spPr>
          <a:xfrm>
            <a:off x="3703320" y="2240280"/>
            <a:ext cx="960120" cy="914"/>
          </a:xfrm>
          <a:prstGeom prst="straightConnector1">
            <a:avLst/>
          </a:prstGeom>
          <a:ln w="19050">
            <a:solidFill>
              <a:srgbClr val="7F7F7F"/>
            </a:solidFill>
            <a:tailEnd type="triangle"/>
          </a:ln>
        </p:spPr>
      </p:cxnSp>
      <p:cxnSp>
        <p:nvCxnSpPr>
          <p:cNvPr id="10" name="Arrow 2"/>
          <p:cNvCxnSpPr/>
          <p:nvPr/>
        </p:nvCxnSpPr>
        <p:spPr>
          <a:xfrm>
            <a:off x="7498080" y="2240280"/>
            <a:ext cx="960120" cy="914"/>
          </a:xfrm>
          <a:prstGeom prst="straightConnector1">
            <a:avLst/>
          </a:prstGeom>
          <a:ln w="19050">
            <a:solidFill>
              <a:srgbClr val="7F7F7F"/>
            </a:solidFill>
            <a:tailEnd type="triangle"/>
          </a:ln>
        </p:spPr>
      </p:cxnSp>
      <p:cxnSp>
        <p:nvCxnSpPr>
          <p:cNvPr id="11" name="Arrow 3"/>
          <p:cNvCxnSpPr/>
          <p:nvPr/>
        </p:nvCxnSpPr>
        <p:spPr>
          <a:xfrm>
            <a:off x="6080760" y="2788920"/>
            <a:ext cx="914" cy="1005840"/>
          </a:xfrm>
          <a:prstGeom prst="straightConnector1">
            <a:avLst/>
          </a:prstGeom>
          <a:ln w="19050">
            <a:solidFill>
              <a:srgbClr val="7F7F7F"/>
            </a:solidFill>
            <a:tailEnd type="triangle"/>
          </a:ln>
        </p:spPr>
      </p:cxnSp>
      <p:cxnSp>
        <p:nvCxnSpPr>
          <p:cNvPr id="12" name="Arrow 4"/>
          <p:cNvCxnSpPr/>
          <p:nvPr/>
        </p:nvCxnSpPr>
        <p:spPr>
          <a:xfrm flipH="1">
            <a:off x="3703320" y="4343400"/>
            <a:ext cx="960120" cy="914"/>
          </a:xfrm>
          <a:prstGeom prst="straightConnector1">
            <a:avLst/>
          </a:prstGeom>
          <a:ln w="19050">
            <a:solidFill>
              <a:srgbClr val="7F7F7F"/>
            </a:solidFill>
            <a:tailEnd type="triangle"/>
          </a:ln>
        </p:spPr>
      </p:cxnSp>
      <p:cxnSp>
        <p:nvCxnSpPr>
          <p:cNvPr id="13" name="Arrow 5"/>
          <p:cNvCxnSpPr/>
          <p:nvPr/>
        </p:nvCxnSpPr>
        <p:spPr>
          <a:xfrm>
            <a:off x="7498080" y="4343400"/>
            <a:ext cx="960120" cy="914"/>
          </a:xfrm>
          <a:prstGeom prst="straightConnector1">
            <a:avLst/>
          </a:prstGeom>
          <a:ln w="19050">
            <a:solidFill>
              <a:srgbClr val="7F7F7F"/>
            </a:solidFill>
            <a:tailEnd type="triangle"/>
          </a:ln>
        </p:spPr>
      </p:cxnSp>
      <p:cxnSp>
        <p:nvCxnSpPr>
          <p:cNvPr id="14" name="Arrow 6"/>
          <p:cNvCxnSpPr/>
          <p:nvPr/>
        </p:nvCxnSpPr>
        <p:spPr>
          <a:xfrm>
            <a:off x="7498080" y="2788920"/>
            <a:ext cx="960120" cy="1005840"/>
          </a:xfrm>
          <a:prstGeom prst="straightConnector1">
            <a:avLst/>
          </a:prstGeom>
          <a:ln w="19050">
            <a:solidFill>
              <a:srgbClr val="7F7F7F"/>
            </a:solidFill>
            <a:tailEnd type="triangle"/>
          </a:ln>
        </p:spPr>
      </p:cxnSp>
      <p:sp>
        <p:nvSpPr>
          <p:cNvPr id="15" name="Architecture note"/>
          <p:cNvSpPr txBox="1"/>
          <p:nvPr/>
        </p:nvSpPr>
        <p:spPr>
          <a:xfrm>
            <a:off x="868680" y="5349240"/>
            <a:ext cx="10698480" cy="548640"/>
          </a:xfrm>
          <a:prstGeom prst="rect">
            <a:avLst/>
          </a:prstGeom>
          <a:noFill/>
        </p:spPr>
        <p:txBody>
          <a:bodyPr wrap="square" lIns="0" tIns="0" rIns="0" bIns="0" anchor="t" rtlCol="0">
            <a:noAutofit/>
          </a:bodyPr>
          <a:lstStyle/>
          <a:p>
            <a:pPr algn="l">
              <a:buNone/>
            </a:pPr>
            <a:r>
              <a:rPr lang="en-US" sz="1400" dirty="0">
                <a:solidFill>
                  <a:srgbClr val="58595B"/>
                </a:solidFill>
              </a:rPr>
              <a:t>Searches run on GitHub's servers, so the free web server never does the heavy lifting. All 18 diagrams are in PROJECT_DIAGRAMS.pdf.</a:t>
            </a:r>
            <a:endParaRPr lang="en-US" sz="1400" dirty="0">
              <a:solidFill>
                <a:srgbClr val="58595B"/>
              </a:solidFill>
            </a:endParaRPr>
          </a:p>
        </p:txBody>
      </p:sp>
      <p:sp>
        <p:nvSpPr>
          <p:cNvPr id="16" name="Slide Number Placeholder"/>
          <p:cNvSpPr>
            <a:spLocks noGrp="1"/>
          </p:cNvSpPr>
          <p:nvPr>
            <p:ph type="sldNum" sz="quarter" idx="12"/>
          </p:nvPr>
        </p:nvSpPr>
        <p:spPr/>
        <p:txBody>
          <a:bodyPr/>
          <a:lstStyle/>
          <a:p>
            <a:fld id="{0FF54DE5-C571-48E8-A5BC-B369434E2F44}" type="slidenum">
              <a:rPr lang="en-US"/>
              <a:t>4</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Trusting a contact took five checks</a:t>
            </a:r>
          </a:p>
        </p:txBody>
      </p:sp>
      <p:sp>
        <p:nvSpPr>
          <p:cNvPr id="3" name="Check 1"/>
          <p:cNvSpPr txBox="1"/>
          <p:nvPr/>
        </p:nvSpPr>
        <p:spPr>
          <a:xfrm>
            <a:off x="868680" y="1417320"/>
            <a:ext cx="5760720" cy="347472"/>
          </a:xfrm>
          <a:prstGeom prst="rect">
            <a:avLst/>
          </a:prstGeom>
          <a:noFill/>
        </p:spPr>
        <p:txBody>
          <a:bodyPr wrap="square" lIns="0" tIns="0" rIns="0" bIns="0" anchor="t" rtlCol="0">
            <a:noAutofit/>
          </a:bodyPr>
          <a:lstStyle/>
          <a:p>
            <a:pPr algn="l">
              <a:buNone/>
            </a:pPr>
            <a:r>
              <a:rPr lang="en-US" sz="1700" b="1" dirty="0">
                <a:solidFill>
                  <a:srgbClr val="231F20"/>
                </a:solidFill>
              </a:rPr>
              <a:t>Is the page real?</a:t>
            </a:r>
            <a:endParaRPr lang="en-US" sz="1700" b="1" dirty="0">
              <a:solidFill>
                <a:srgbClr val="231F20"/>
              </a:solidFill>
            </a:endParaRPr>
          </a:p>
        </p:txBody>
      </p:sp>
      <p:sp>
        <p:nvSpPr>
          <p:cNvPr id="4" name="Check answer 1"/>
          <p:cNvSpPr txBox="1"/>
          <p:nvPr/>
        </p:nvSpPr>
        <p:spPr>
          <a:xfrm>
            <a:off x="868680" y="1783080"/>
            <a:ext cx="5760720" cy="457200"/>
          </a:xfrm>
          <a:prstGeom prst="rect">
            <a:avLst/>
          </a:prstGeom>
          <a:noFill/>
        </p:spPr>
        <p:txBody>
          <a:bodyPr wrap="square" lIns="0" tIns="0" rIns="0" bIns="0" anchor="t" rtlCol="0">
            <a:noAutofit/>
          </a:bodyPr>
          <a:lstStyle/>
          <a:p>
            <a:pPr algn="l">
              <a:buNone/>
            </a:pPr>
            <a:r>
              <a:rPr lang="en-US" sz="1400" dirty="0">
                <a:solidFill>
                  <a:srgbClr val="58595B"/>
                </a:solidFill>
              </a:rPr>
              <a:t>Redirects and off-topic pages are rejected, even with an OK reply</a:t>
            </a:r>
            <a:endParaRPr lang="en-US" sz="1400" dirty="0">
              <a:solidFill>
                <a:srgbClr val="58595B"/>
              </a:solidFill>
            </a:endParaRPr>
          </a:p>
        </p:txBody>
      </p:sp>
      <p:sp>
        <p:nvSpPr>
          <p:cNvPr id="5" name="Check 2"/>
          <p:cNvSpPr txBox="1"/>
          <p:nvPr/>
        </p:nvSpPr>
        <p:spPr>
          <a:xfrm>
            <a:off x="868680" y="2350008"/>
            <a:ext cx="5760720" cy="347472"/>
          </a:xfrm>
          <a:prstGeom prst="rect">
            <a:avLst/>
          </a:prstGeom>
          <a:noFill/>
        </p:spPr>
        <p:txBody>
          <a:bodyPr wrap="square" lIns="0" tIns="0" rIns="0" bIns="0" anchor="t" rtlCol="0">
            <a:noAutofit/>
          </a:bodyPr>
          <a:lstStyle/>
          <a:p>
            <a:pPr algn="l">
              <a:buNone/>
            </a:pPr>
            <a:r>
              <a:rPr lang="en-US" sz="1700" b="1" dirty="0">
                <a:solidFill>
                  <a:srgbClr val="231F20"/>
                </a:solidFill>
              </a:rPr>
              <a:t>Is it the right company?</a:t>
            </a:r>
            <a:endParaRPr lang="en-US" sz="1700" b="1" dirty="0">
              <a:solidFill>
                <a:srgbClr val="231F20"/>
              </a:solidFill>
            </a:endParaRPr>
          </a:p>
        </p:txBody>
      </p:sp>
      <p:sp>
        <p:nvSpPr>
          <p:cNvPr id="6" name="Check answer 2"/>
          <p:cNvSpPr txBox="1"/>
          <p:nvPr/>
        </p:nvSpPr>
        <p:spPr>
          <a:xfrm>
            <a:off x="868680" y="2715768"/>
            <a:ext cx="5760720" cy="457200"/>
          </a:xfrm>
          <a:prstGeom prst="rect">
            <a:avLst/>
          </a:prstGeom>
          <a:noFill/>
        </p:spPr>
        <p:txBody>
          <a:bodyPr wrap="square" lIns="0" tIns="0" rIns="0" bIns="0" anchor="t" rtlCol="0">
            <a:noAutofit/>
          </a:bodyPr>
          <a:lstStyle/>
          <a:p>
            <a:pPr algn="l">
              <a:buNone/>
            </a:pPr>
            <a:r>
              <a:rPr lang="en-US" sz="1400" dirty="0">
                <a:solidFill>
                  <a:srgbClr val="58595B"/>
                </a:solidFill>
              </a:rPr>
              <a:t>A website counts only if its own title or footer names the company</a:t>
            </a:r>
            <a:endParaRPr lang="en-US" sz="1400" dirty="0">
              <a:solidFill>
                <a:srgbClr val="58595B"/>
              </a:solidFill>
            </a:endParaRPr>
          </a:p>
        </p:txBody>
      </p:sp>
      <p:sp>
        <p:nvSpPr>
          <p:cNvPr id="7" name="Check 3"/>
          <p:cNvSpPr txBox="1"/>
          <p:nvPr/>
        </p:nvSpPr>
        <p:spPr>
          <a:xfrm>
            <a:off x="868680" y="3282696"/>
            <a:ext cx="5760720" cy="347472"/>
          </a:xfrm>
          <a:prstGeom prst="rect">
            <a:avLst/>
          </a:prstGeom>
          <a:noFill/>
        </p:spPr>
        <p:txBody>
          <a:bodyPr wrap="square" lIns="0" tIns="0" rIns="0" bIns="0" anchor="t" rtlCol="0">
            <a:noAutofit/>
          </a:bodyPr>
          <a:lstStyle/>
          <a:p>
            <a:pPr algn="l">
              <a:buNone/>
            </a:pPr>
            <a:r>
              <a:rPr lang="en-US" sz="1700" b="1" dirty="0">
                <a:solidFill>
                  <a:srgbClr val="231F20"/>
                </a:solidFill>
              </a:rPr>
              <a:t>Does the address work?</a:t>
            </a:r>
            <a:endParaRPr lang="en-US" sz="1700" b="1" dirty="0">
              <a:solidFill>
                <a:srgbClr val="231F20"/>
              </a:solidFill>
            </a:endParaRPr>
          </a:p>
        </p:txBody>
      </p:sp>
      <p:sp>
        <p:nvSpPr>
          <p:cNvPr id="8" name="Check answer 3"/>
          <p:cNvSpPr txBox="1"/>
          <p:nvPr/>
        </p:nvSpPr>
        <p:spPr>
          <a:xfrm>
            <a:off x="868680" y="3648456"/>
            <a:ext cx="5760720" cy="457200"/>
          </a:xfrm>
          <a:prstGeom prst="rect">
            <a:avLst/>
          </a:prstGeom>
          <a:noFill/>
        </p:spPr>
        <p:txBody>
          <a:bodyPr wrap="square" lIns="0" tIns="0" rIns="0" bIns="0" anchor="t" rtlCol="0">
            <a:noAutofit/>
          </a:bodyPr>
          <a:lstStyle/>
          <a:p>
            <a:pPr algn="l">
              <a:buNone/>
            </a:pPr>
            <a:r>
              <a:rPr lang="en-US" sz="1400" dirty="0">
                <a:solidFill>
                  <a:srgbClr val="58595B"/>
                </a:solidFill>
              </a:rPr>
              <a:t>Email domains get a live mail-server check; phones are validated</a:t>
            </a:r>
            <a:endParaRPr lang="en-US" sz="1400" dirty="0">
              <a:solidFill>
                <a:srgbClr val="58595B"/>
              </a:solidFill>
            </a:endParaRPr>
          </a:p>
        </p:txBody>
      </p:sp>
      <p:sp>
        <p:nvSpPr>
          <p:cNvPr id="9" name="Check 4"/>
          <p:cNvSpPr txBox="1"/>
          <p:nvPr/>
        </p:nvSpPr>
        <p:spPr>
          <a:xfrm>
            <a:off x="868680" y="4215384"/>
            <a:ext cx="5760720" cy="347472"/>
          </a:xfrm>
          <a:prstGeom prst="rect">
            <a:avLst/>
          </a:prstGeom>
          <a:noFill/>
        </p:spPr>
        <p:txBody>
          <a:bodyPr wrap="square" lIns="0" tIns="0" rIns="0" bIns="0" anchor="t" rtlCol="0">
            <a:noAutofit/>
          </a:bodyPr>
          <a:lstStyle/>
          <a:p>
            <a:pPr algn="l">
              <a:buNone/>
            </a:pPr>
            <a:r>
              <a:rPr lang="en-US" sz="1700" b="1" dirty="0">
                <a:solidFill>
                  <a:srgbClr val="231F20"/>
                </a:solidFill>
              </a:rPr>
              <a:t>How much do we trust it?</a:t>
            </a:r>
            <a:endParaRPr lang="en-US" sz="1700" b="1" dirty="0">
              <a:solidFill>
                <a:srgbClr val="231F20"/>
              </a:solidFill>
            </a:endParaRPr>
          </a:p>
        </p:txBody>
      </p:sp>
      <p:sp>
        <p:nvSpPr>
          <p:cNvPr id="10" name="Check answer 4"/>
          <p:cNvSpPr txBox="1"/>
          <p:nvPr/>
        </p:nvSpPr>
        <p:spPr>
          <a:xfrm>
            <a:off x="868680" y="4581144"/>
            <a:ext cx="5760720" cy="457200"/>
          </a:xfrm>
          <a:prstGeom prst="rect">
            <a:avLst/>
          </a:prstGeom>
          <a:noFill/>
        </p:spPr>
        <p:txBody>
          <a:bodyPr wrap="square" lIns="0" tIns="0" rIns="0" bIns="0" anchor="t" rtlCol="0">
            <a:noAutofit/>
          </a:bodyPr>
          <a:lstStyle/>
          <a:p>
            <a:pPr algn="l">
              <a:buNone/>
            </a:pPr>
            <a:r>
              <a:rPr lang="en-US" sz="1400" dirty="0">
                <a:solidFill>
                  <a:srgbClr val="58595B"/>
                </a:solidFill>
              </a:rPr>
              <a:t>A 0 to 1 score from independent evidence</a:t>
            </a:r>
            <a:endParaRPr lang="en-US" sz="1400" dirty="0">
              <a:solidFill>
                <a:srgbClr val="58595B"/>
              </a:solidFill>
            </a:endParaRPr>
          </a:p>
        </p:txBody>
      </p:sp>
      <p:sp>
        <p:nvSpPr>
          <p:cNvPr id="11" name="Check 5"/>
          <p:cNvSpPr txBox="1"/>
          <p:nvPr/>
        </p:nvSpPr>
        <p:spPr>
          <a:xfrm>
            <a:off x="868680" y="5148072"/>
            <a:ext cx="5760720" cy="347472"/>
          </a:xfrm>
          <a:prstGeom prst="rect">
            <a:avLst/>
          </a:prstGeom>
          <a:noFill/>
        </p:spPr>
        <p:txBody>
          <a:bodyPr wrap="square" lIns="0" tIns="0" rIns="0" bIns="0" anchor="t" rtlCol="0">
            <a:noAutofit/>
          </a:bodyPr>
          <a:lstStyle/>
          <a:p>
            <a:pPr algn="l">
              <a:buNone/>
            </a:pPr>
            <a:r>
              <a:rPr lang="en-US" sz="1700" b="1" dirty="0">
                <a:solidFill>
                  <a:srgbClr val="231F20"/>
                </a:solidFill>
              </a:rPr>
              <a:t>Not sure?</a:t>
            </a:r>
            <a:endParaRPr lang="en-US" sz="1700" b="1" dirty="0">
              <a:solidFill>
                <a:srgbClr val="231F20"/>
              </a:solidFill>
            </a:endParaRPr>
          </a:p>
        </p:txBody>
      </p:sp>
      <p:sp>
        <p:nvSpPr>
          <p:cNvPr id="12" name="Check answer 5"/>
          <p:cNvSpPr txBox="1"/>
          <p:nvPr/>
        </p:nvSpPr>
        <p:spPr>
          <a:xfrm>
            <a:off x="868680" y="5513832"/>
            <a:ext cx="5760720" cy="457200"/>
          </a:xfrm>
          <a:prstGeom prst="rect">
            <a:avLst/>
          </a:prstGeom>
          <a:noFill/>
        </p:spPr>
        <p:txBody>
          <a:bodyPr wrap="square" lIns="0" tIns="0" rIns="0" bIns="0" anchor="t" rtlCol="0">
            <a:noAutofit/>
          </a:bodyPr>
          <a:lstStyle/>
          <a:p>
            <a:pPr algn="l">
              <a:buNone/>
            </a:pPr>
            <a:r>
              <a:rPr lang="en-US" sz="1400" dirty="0">
                <a:solidFill>
                  <a:srgbClr val="58595B"/>
                </a:solidFill>
              </a:rPr>
              <a:t>A person reviews it. Nothing is deleted, only set aside</a:t>
            </a:r>
            <a:endParaRPr lang="en-US" sz="1400" dirty="0">
              <a:solidFill>
                <a:srgbClr val="58595B"/>
              </a:solidFill>
            </a:endParaRPr>
          </a:p>
        </p:txBody>
      </p:sp>
      <p:sp>
        <p:nvSpPr>
          <p:cNvPr id="13" name="Real cases panel"/>
          <p:cNvSpPr/>
          <p:nvPr/>
        </p:nvSpPr>
        <p:spPr>
          <a:xfrm>
            <a:off x="7040880" y="1371600"/>
            <a:ext cx="4709160" cy="4846320"/>
          </a:xfrm>
          <a:prstGeom prst="roundRect">
            <a:avLst>
              <a:gd name="adj" fmla="val 4000"/>
            </a:avLst>
          </a:prstGeom>
          <a:solidFill>
            <a:srgbClr val="F2F2F2"/>
          </a:solidFill>
          <a:ln>
            <a:noFill/>
          </a:ln>
        </p:spPr>
      </p:sp>
      <p:sp>
        <p:nvSpPr>
          <p:cNvPr id="14" name="Real cases label"/>
          <p:cNvSpPr txBox="1"/>
          <p:nvPr/>
        </p:nvSpPr>
        <p:spPr>
          <a:xfrm>
            <a:off x="7360920" y="1600200"/>
            <a:ext cx="4114800" cy="320040"/>
          </a:xfrm>
          <a:prstGeom prst="rect">
            <a:avLst/>
          </a:prstGeom>
          <a:noFill/>
        </p:spPr>
        <p:txBody>
          <a:bodyPr wrap="square" lIns="0" tIns="0" rIns="0" bIns="0" anchor="t" rtlCol="0">
            <a:noAutofit/>
          </a:bodyPr>
          <a:lstStyle/>
          <a:p>
            <a:pPr algn="l">
              <a:buNone/>
            </a:pPr>
            <a:r>
              <a:rPr lang="en-US" sz="1200" b="1" spc="100" dirty="0">
                <a:solidFill>
                  <a:srgbClr val="B7202E"/>
                </a:solidFill>
              </a:rPr>
              <a:t>REAL CASES THAT SHAPED THESE CHECKS</a:t>
            </a:r>
            <a:endParaRPr lang="en-US" sz="1200" b="1" spc="100" dirty="0">
              <a:solidFill>
                <a:srgbClr val="B7202E"/>
              </a:solidFill>
            </a:endParaRPr>
          </a:p>
        </p:txBody>
      </p:sp>
      <p:sp>
        <p:nvSpPr>
          <p:cNvPr id="15" name="Case 1"/>
          <p:cNvSpPr txBox="1"/>
          <p:nvPr/>
        </p:nvSpPr>
        <p:spPr>
          <a:xfrm>
            <a:off x="7360920" y="2103120"/>
            <a:ext cx="4114800" cy="457200"/>
          </a:xfrm>
          <a:prstGeom prst="rect">
            <a:avLst/>
          </a:prstGeom>
          <a:noFill/>
        </p:spPr>
        <p:txBody>
          <a:bodyPr wrap="square" lIns="0" tIns="0" rIns="0" bIns="0" anchor="t" rtlCol="0">
            <a:noAutofit/>
          </a:bodyPr>
          <a:lstStyle/>
          <a:p>
            <a:pPr algn="l">
              <a:buNone/>
            </a:pPr>
            <a:r>
              <a:rPr lang="en-US" sz="2200" b="1" dirty="0">
                <a:solidFill>
                  <a:srgbClr val="B7202E"/>
                </a:solidFill>
                <a:latin typeface="+mj-lt"/>
              </a:rPr>
              <a:t>“Genesis”</a:t>
            </a:r>
            <a:endParaRPr lang="en-US" sz="2200" b="1" dirty="0">
              <a:solidFill>
                <a:srgbClr val="B7202E"/>
              </a:solidFill>
              <a:latin typeface="+mj-lt"/>
            </a:endParaRPr>
          </a:p>
        </p:txBody>
      </p:sp>
      <p:sp>
        <p:nvSpPr>
          <p:cNvPr id="16" name="Case text 1"/>
          <p:cNvSpPr txBox="1"/>
          <p:nvPr/>
        </p:nvSpPr>
        <p:spPr>
          <a:xfrm>
            <a:off x="7360920" y="2606040"/>
            <a:ext cx="4069080" cy="731520"/>
          </a:xfrm>
          <a:prstGeom prst="rect">
            <a:avLst/>
          </a:prstGeom>
          <a:noFill/>
        </p:spPr>
        <p:txBody>
          <a:bodyPr wrap="square" lIns="0" tIns="0" rIns="0" bIns="0" anchor="t" rtlCol="0">
            <a:noAutofit/>
          </a:bodyPr>
          <a:lstStyle/>
          <a:p>
            <a:pPr algn="l">
              <a:buNone/>
            </a:pPr>
            <a:r>
              <a:rPr lang="en-US" sz="1500" dirty="0">
                <a:solidFill>
                  <a:srgbClr val="58595B"/>
                </a:solidFill>
              </a:rPr>
              <a:t>is three different firms in our data. A name alone is not an identity.</a:t>
            </a:r>
            <a:endParaRPr lang="en-US" sz="1500" dirty="0">
              <a:solidFill>
                <a:srgbClr val="58595B"/>
              </a:solidFill>
            </a:endParaRPr>
          </a:p>
        </p:txBody>
      </p:sp>
      <p:sp>
        <p:nvSpPr>
          <p:cNvPr id="17" name="Case 2"/>
          <p:cNvSpPr txBox="1"/>
          <p:nvPr/>
        </p:nvSpPr>
        <p:spPr>
          <a:xfrm>
            <a:off x="7360920" y="3429000"/>
            <a:ext cx="4114800" cy="457200"/>
          </a:xfrm>
          <a:prstGeom prst="rect">
            <a:avLst/>
          </a:prstGeom>
          <a:noFill/>
        </p:spPr>
        <p:txBody>
          <a:bodyPr wrap="square" lIns="0" tIns="0" rIns="0" bIns="0" anchor="t" rtlCol="0">
            <a:noAutofit/>
          </a:bodyPr>
          <a:lstStyle/>
          <a:p>
            <a:pPr algn="l">
              <a:buNone/>
            </a:pPr>
            <a:r>
              <a:rPr lang="en-US" sz="2200" b="1" dirty="0">
                <a:solidFill>
                  <a:srgbClr val="B7202E"/>
                </a:solidFill>
                <a:latin typeface="+mj-lt"/>
              </a:rPr>
              <a:t>rethink.org vs rethink.com</a:t>
            </a:r>
            <a:endParaRPr lang="en-US" sz="2200" b="1" dirty="0">
              <a:solidFill>
                <a:srgbClr val="B7202E"/>
              </a:solidFill>
              <a:latin typeface="+mj-lt"/>
            </a:endParaRPr>
          </a:p>
        </p:txBody>
      </p:sp>
      <p:sp>
        <p:nvSpPr>
          <p:cNvPr id="18" name="Case text 2"/>
          <p:cNvSpPr txBox="1"/>
          <p:nvPr/>
        </p:nvSpPr>
        <p:spPr>
          <a:xfrm>
            <a:off x="7360920" y="3931920"/>
            <a:ext cx="4069080" cy="731520"/>
          </a:xfrm>
          <a:prstGeom prst="rect">
            <a:avLst/>
          </a:prstGeom>
          <a:noFill/>
        </p:spPr>
        <p:txBody>
          <a:bodyPr wrap="square" lIns="0" tIns="0" rIns="0" bIns="0" anchor="t" rtlCol="0">
            <a:noAutofit/>
          </a:bodyPr>
          <a:lstStyle/>
          <a:p>
            <a:pPr algn="l">
              <a:buNone/>
            </a:pPr>
            <a:r>
              <a:rPr lang="en-US" sz="1500" dirty="0">
                <a:solidFill>
                  <a:srgbClr val="58595B"/>
                </a:solidFill>
              </a:rPr>
              <a:t>look alike but are different organisations.</a:t>
            </a:r>
            <a:endParaRPr lang="en-US" sz="1500" dirty="0">
              <a:solidFill>
                <a:srgbClr val="58595B"/>
              </a:solidFill>
            </a:endParaRPr>
          </a:p>
        </p:txBody>
      </p:sp>
      <p:sp>
        <p:nvSpPr>
          <p:cNvPr id="19" name="Case 3"/>
          <p:cNvSpPr txBox="1"/>
          <p:nvPr/>
        </p:nvSpPr>
        <p:spPr>
          <a:xfrm>
            <a:off x="7360920" y="4754880"/>
            <a:ext cx="4114800" cy="457200"/>
          </a:xfrm>
          <a:prstGeom prst="rect">
            <a:avLst/>
          </a:prstGeom>
          <a:noFill/>
        </p:spPr>
        <p:txBody>
          <a:bodyPr wrap="square" lIns="0" tIns="0" rIns="0" bIns="0" anchor="t" rtlCol="0">
            <a:noAutofit/>
          </a:bodyPr>
          <a:lstStyle/>
          <a:p>
            <a:pPr algn="l">
              <a:buNone/>
            </a:pPr>
            <a:r>
              <a:rPr lang="en-US" sz="2200" b="1" dirty="0">
                <a:solidFill>
                  <a:srgbClr val="B7202E"/>
                </a:solidFill>
                <a:latin typeface="+mj-lt"/>
              </a:rPr>
              <a:t>“Private”</a:t>
            </a:r>
            <a:endParaRPr lang="en-US" sz="2200" b="1" dirty="0">
              <a:solidFill>
                <a:srgbClr val="B7202E"/>
              </a:solidFill>
              <a:latin typeface="+mj-lt"/>
            </a:endParaRPr>
          </a:p>
        </p:txBody>
      </p:sp>
      <p:sp>
        <p:nvSpPr>
          <p:cNvPr id="20" name="Case text 3"/>
          <p:cNvSpPr txBox="1"/>
          <p:nvPr/>
        </p:nvSpPr>
        <p:spPr>
          <a:xfrm>
            <a:off x="7360920" y="5257800"/>
            <a:ext cx="4069080" cy="731520"/>
          </a:xfrm>
          <a:prstGeom prst="rect">
            <a:avLst/>
          </a:prstGeom>
          <a:noFill/>
        </p:spPr>
        <p:txBody>
          <a:bodyPr wrap="square" lIns="0" tIns="0" rIns="0" bIns="0" anchor="t" rtlCol="0">
            <a:noAutofit/>
          </a:bodyPr>
          <a:lstStyle/>
          <a:p>
            <a:pPr algn="l">
              <a:buNone/>
            </a:pPr>
            <a:r>
              <a:rPr lang="en-US" sz="1500" dirty="0">
                <a:solidFill>
                  <a:srgbClr val="58595B"/>
                </a:solidFill>
              </a:rPr>
              <a:t>in “Private Limited” once gave one company another's HR contacts.</a:t>
            </a:r>
            <a:endParaRPr lang="en-US" sz="1500" dirty="0">
              <a:solidFill>
                <a:srgbClr val="58595B"/>
              </a:solidFill>
            </a:endParaRPr>
          </a:p>
        </p:txBody>
      </p:sp>
      <p:sp>
        <p:nvSpPr>
          <p:cNvPr id="21" name="Slide Number Placeholder"/>
          <p:cNvSpPr>
            <a:spLocks noGrp="1"/>
          </p:cNvSpPr>
          <p:nvPr>
            <p:ph type="sldNum" sz="quarter" idx="12"/>
          </p:nvPr>
        </p:nvSpPr>
        <p:spPr/>
        <p:txBody>
          <a:bodyPr/>
          <a:lstStyle/>
          <a:p>
            <a:fld id="{0FF54DE5-C571-48E8-A5BC-B369434E2F44}" type="slidenum">
              <a:rPr lang="en-US"/>
              <a:t>5</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Contacts grew more than fourfold in a month</a:t>
            </a:r>
          </a:p>
        </p:txBody>
      </p:sp>
      <p:graphicFrame>
        <p:nvGraphicFramePr>
          <p:cNvPr id="3" name="Growth chart"/>
          <p:cNvGraphicFramePr/>
          <p:nvPr/>
        </p:nvGraphicFramePr>
        <p:xfrm>
          <a:off x="868680" y="1371600"/>
          <a:ext cx="6858000" cy="4846320"/>
        </p:xfrm>
        <a:graphic>
          <a:graphicData uri="http://schemas.openxmlformats.org/drawingml/2006/chart">
            <c:chart xmlns:c="http://schemas.openxmlformats.org/drawingml/2006/chart" r:id="rId2"/>
          </a:graphicData>
        </a:graphic>
      </p:graphicFrame>
      <p:sp>
        <p:nvSpPr>
          <p:cNvPr id="4" name="Verified emails"/>
          <p:cNvSpPr txBox="1"/>
          <p:nvPr/>
        </p:nvSpPr>
        <p:spPr>
          <a:xfrm>
            <a:off x="8183880" y="1737360"/>
            <a:ext cx="3474720" cy="1828800"/>
          </a:xfrm>
          <a:prstGeom prst="rect">
            <a:avLst/>
          </a:prstGeom>
          <a:noFill/>
        </p:spPr>
        <p:txBody>
          <a:bodyPr wrap="square" lIns="0" tIns="0" rIns="0" bIns="0" anchor="t" rtlCol="0">
            <a:noAutofit/>
          </a:bodyPr>
          <a:lstStyle/>
          <a:p>
            <a:pPr algn="l">
              <a:buNone/>
            </a:pPr>
            <a:r>
              <a:rPr lang="en-US" sz="5400" b="1" dirty="0">
                <a:solidFill>
                  <a:srgbClr val="B7202E"/>
                </a:solidFill>
                <a:latin typeface="+mj-lt"/>
              </a:rPr>
              <a:t>97.5%</a:t>
            </a:r>
            <a:endParaRPr lang="en-US" sz="5400" b="1" dirty="0">
              <a:solidFill>
                <a:srgbClr val="B7202E"/>
              </a:solidFill>
              <a:latin typeface="+mj-lt"/>
            </a:endParaRPr>
          </a:p>
          <a:p>
            <a:pPr algn="l">
              <a:buNone/>
            </a:pPr>
            <a:r>
              <a:rPr lang="en-US" sz="1600" dirty="0">
                <a:solidFill>
                  <a:srgbClr val="58595B"/>
                </a:solidFill>
              </a:rPr>
              <a:t>of 2,046 emails pass a live mail-server check</a:t>
            </a:r>
            <a:endParaRPr lang="en-US" sz="1600" dirty="0">
              <a:solidFill>
                <a:srgbClr val="58595B"/>
              </a:solidFill>
            </a:endParaRPr>
          </a:p>
        </p:txBody>
      </p:sp>
      <p:sp>
        <p:nvSpPr>
          <p:cNvPr id="5" name="Named contacts"/>
          <p:cNvSpPr txBox="1"/>
          <p:nvPr/>
        </p:nvSpPr>
        <p:spPr>
          <a:xfrm>
            <a:off x="8183880" y="3931920"/>
            <a:ext cx="3474720" cy="1828800"/>
          </a:xfrm>
          <a:prstGeom prst="rect">
            <a:avLst/>
          </a:prstGeom>
          <a:noFill/>
        </p:spPr>
        <p:txBody>
          <a:bodyPr wrap="square" lIns="0" tIns="0" rIns="0" bIns="0" anchor="t" rtlCol="0">
            <a:noAutofit/>
          </a:bodyPr>
          <a:lstStyle/>
          <a:p>
            <a:pPr algn="l">
              <a:buNone/>
            </a:pPr>
            <a:r>
              <a:rPr lang="en-US" sz="5400" b="1" dirty="0">
                <a:solidFill>
                  <a:srgbClr val="231F20"/>
                </a:solidFill>
                <a:latin typeface="+mj-lt"/>
              </a:rPr>
              <a:t>1,823</a:t>
            </a:r>
            <a:endParaRPr lang="en-US" sz="5400" b="1" dirty="0">
              <a:solidFill>
                <a:srgbClr val="231F20"/>
              </a:solidFill>
              <a:latin typeface="+mj-lt"/>
            </a:endParaRPr>
          </a:p>
          <a:p>
            <a:pPr algn="l">
              <a:buNone/>
            </a:pPr>
            <a:r>
              <a:rPr lang="en-US" sz="1600" dirty="0">
                <a:solidFill>
                  <a:srgbClr val="58595B"/>
                </a:solidFill>
              </a:rPr>
              <a:t>contacts name a real person, not just info@</a:t>
            </a:r>
            <a:endParaRPr lang="en-US" sz="1600" dirty="0">
              <a:solidFill>
                <a:srgbClr val="58595B"/>
              </a:solidFill>
            </a:endParaRPr>
          </a:p>
        </p:txBody>
      </p:sp>
      <p:sp>
        <p:nvSpPr>
          <p:cNvPr id="6" name="Slide Number Placeholder"/>
          <p:cNvSpPr>
            <a:spLocks noGrp="1"/>
          </p:cNvSpPr>
          <p:nvPr>
            <p:ph type="sldNum" sz="quarter" idx="12"/>
          </p:nvPr>
        </p:nvSpPr>
        <p:spPr/>
        <p:txBody>
          <a:bodyPr/>
          <a:lstStyle/>
          <a:p>
            <a:fld id="{0FF54DE5-C571-48E8-A5BC-B369434E2F44}" type="slidenum">
              <a:rPr lang="en-US"/>
              <a:t>6</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 measured what worked, and what didn't</a:t>
            </a:r>
          </a:p>
        </p:txBody>
      </p:sp>
      <p:graphicFrame>
        <p:nvGraphicFramePr>
          <p:cNvPr id="3" name="Identity chart"/>
          <p:cNvGraphicFramePr/>
          <p:nvPr/>
        </p:nvGraphicFramePr>
        <p:xfrm>
          <a:off x="868680" y="1417320"/>
          <a:ext cx="5212080" cy="4754880"/>
        </p:xfrm>
        <a:graphic>
          <a:graphicData uri="http://schemas.openxmlformats.org/drawingml/2006/chart">
            <c:chart xmlns:c="http://schemas.openxmlformats.org/drawingml/2006/chart" r:id="rId2"/>
          </a:graphicData>
        </a:graphic>
      </p:graphicFrame>
      <p:sp>
        <p:nvSpPr>
          <p:cNvPr id="4" name="Finding 1"/>
          <p:cNvSpPr txBox="1"/>
          <p:nvPr/>
        </p:nvSpPr>
        <p:spPr>
          <a:xfrm>
            <a:off x="6583680" y="1645920"/>
            <a:ext cx="5120640" cy="411480"/>
          </a:xfrm>
          <a:prstGeom prst="rect">
            <a:avLst/>
          </a:prstGeom>
          <a:noFill/>
        </p:spPr>
        <p:txBody>
          <a:bodyPr wrap="square" lIns="0" tIns="0" rIns="0" bIns="0" anchor="t" rtlCol="0">
            <a:noAutofit/>
          </a:bodyPr>
          <a:lstStyle/>
          <a:p>
            <a:pPr algn="l">
              <a:buNone/>
            </a:pPr>
            <a:r>
              <a:rPr lang="en-US" sz="1900" b="1" dirty="0">
                <a:solidFill>
                  <a:srgbClr val="B7202E"/>
                </a:solidFill>
              </a:rPr>
              <a:t>Only 7 of 23 job boards</a:t>
            </a:r>
            <a:endParaRPr lang="en-US" sz="1900" b="1" dirty="0">
              <a:solidFill>
                <a:srgbClr val="B7202E"/>
              </a:solidFill>
            </a:endParaRPr>
          </a:p>
        </p:txBody>
      </p:sp>
      <p:sp>
        <p:nvSpPr>
          <p:cNvPr id="5" name="Finding text 1"/>
          <p:cNvSpPr txBox="1"/>
          <p:nvPr/>
        </p:nvSpPr>
        <p:spPr>
          <a:xfrm>
            <a:off x="6583680" y="2103120"/>
            <a:ext cx="5120640" cy="822960"/>
          </a:xfrm>
          <a:prstGeom prst="rect">
            <a:avLst/>
          </a:prstGeom>
          <a:noFill/>
        </p:spPr>
        <p:txBody>
          <a:bodyPr wrap="square" lIns="0" tIns="0" rIns="0" bIns="0" anchor="t" rtlCol="0">
            <a:noAutofit/>
          </a:bodyPr>
          <a:lstStyle/>
          <a:p>
            <a:pPr algn="l">
              <a:buNone/>
            </a:pPr>
            <a:r>
              <a:rPr lang="en-US" sz="1500" dirty="0">
                <a:solidFill>
                  <a:srgbClr val="58595B"/>
                </a:solidFill>
              </a:rPr>
              <a:t>returned jobs in the final test. Naukri now asks for a captcha.</a:t>
            </a:r>
            <a:endParaRPr lang="en-US" sz="1500" dirty="0">
              <a:solidFill>
                <a:srgbClr val="58595B"/>
              </a:solidFill>
            </a:endParaRPr>
          </a:p>
        </p:txBody>
      </p:sp>
      <p:sp>
        <p:nvSpPr>
          <p:cNvPr id="6" name="Finding 2"/>
          <p:cNvSpPr txBox="1"/>
          <p:nvPr/>
        </p:nvSpPr>
        <p:spPr>
          <a:xfrm>
            <a:off x="6583680" y="3063240"/>
            <a:ext cx="5120640" cy="411480"/>
          </a:xfrm>
          <a:prstGeom prst="rect">
            <a:avLst/>
          </a:prstGeom>
          <a:noFill/>
        </p:spPr>
        <p:txBody>
          <a:bodyPr wrap="square" lIns="0" tIns="0" rIns="0" bIns="0" anchor="t" rtlCol="0">
            <a:noAutofit/>
          </a:bodyPr>
          <a:lstStyle/>
          <a:p>
            <a:pPr algn="l">
              <a:buNone/>
            </a:pPr>
            <a:r>
              <a:rPr lang="en-US" sz="1900" b="1" dirty="0">
                <a:solidFill>
                  <a:srgbClr val="231F20"/>
                </a:solidFill>
              </a:rPr>
              <a:t>Switching the defaults</a:t>
            </a:r>
            <a:endParaRPr lang="en-US" sz="1900" b="1" dirty="0">
              <a:solidFill>
                <a:srgbClr val="231F20"/>
              </a:solidFill>
            </a:endParaRPr>
          </a:p>
        </p:txBody>
      </p:sp>
      <p:sp>
        <p:nvSpPr>
          <p:cNvPr id="7" name="Finding text 2"/>
          <p:cNvSpPr txBox="1"/>
          <p:nvPr/>
        </p:nvSpPr>
        <p:spPr>
          <a:xfrm>
            <a:off x="6583680" y="3520440"/>
            <a:ext cx="5120640" cy="822960"/>
          </a:xfrm>
          <a:prstGeom prst="rect">
            <a:avLst/>
          </a:prstGeom>
          <a:noFill/>
        </p:spPr>
        <p:txBody>
          <a:bodyPr wrap="square" lIns="0" tIns="0" rIns="0" bIns="0" anchor="t" rtlCol="0">
            <a:noAutofit/>
          </a:bodyPr>
          <a:lstStyle/>
          <a:p>
            <a:pPr algn="l">
              <a:buNone/>
            </a:pPr>
            <a:r>
              <a:rPr lang="en-US" sz="1500" dirty="0">
                <a:solidFill>
                  <a:srgbClr val="58595B"/>
                </a:solidFill>
              </a:rPr>
              <a:t>to Indeed, LinkedIn and Internshala gave 29 jobs from 23 companies in one search.</a:t>
            </a:r>
            <a:endParaRPr lang="en-US" sz="1500" dirty="0">
              <a:solidFill>
                <a:srgbClr val="58595B"/>
              </a:solidFill>
            </a:endParaRPr>
          </a:p>
        </p:txBody>
      </p:sp>
      <p:sp>
        <p:nvSpPr>
          <p:cNvPr id="8" name="Finding 3"/>
          <p:cNvSpPr txBox="1"/>
          <p:nvPr/>
        </p:nvSpPr>
        <p:spPr>
          <a:xfrm>
            <a:off x="6583680" y="4480560"/>
            <a:ext cx="5120640" cy="411480"/>
          </a:xfrm>
          <a:prstGeom prst="rect">
            <a:avLst/>
          </a:prstGeom>
          <a:noFill/>
        </p:spPr>
        <p:txBody>
          <a:bodyPr wrap="square" lIns="0" tIns="0" rIns="0" bIns="0" anchor="t" rtlCol="0">
            <a:noAutofit/>
          </a:bodyPr>
          <a:lstStyle/>
          <a:p>
            <a:pPr algn="l">
              <a:buNone/>
            </a:pPr>
            <a:r>
              <a:rPr lang="en-US" sz="1900" b="1" dirty="0">
                <a:solidFill>
                  <a:srgbClr val="231F20"/>
                </a:solidFill>
              </a:rPr>
              <a:t>Three planned sources</a:t>
            </a:r>
            <a:endParaRPr lang="en-US" sz="1900" b="1" dirty="0">
              <a:solidFill>
                <a:srgbClr val="231F20"/>
              </a:solidFill>
            </a:endParaRPr>
          </a:p>
        </p:txBody>
      </p:sp>
      <p:sp>
        <p:nvSpPr>
          <p:cNvPr id="9" name="Finding text 3"/>
          <p:cNvSpPr txBox="1"/>
          <p:nvPr/>
        </p:nvSpPr>
        <p:spPr>
          <a:xfrm>
            <a:off x="6583680" y="4937760"/>
            <a:ext cx="5120640" cy="822960"/>
          </a:xfrm>
          <a:prstGeom prst="rect">
            <a:avLst/>
          </a:prstGeom>
          <a:noFill/>
        </p:spPr>
        <p:txBody>
          <a:bodyPr wrap="square" lIns="0" tIns="0" rIns="0" bIns="0" anchor="t" rtlCol="0">
            <a:noAutofit/>
          </a:bodyPr>
          <a:lstStyle/>
          <a:p>
            <a:pPr algn="l">
              <a:buNone/>
            </a:pPr>
            <a:r>
              <a:rPr lang="en-US" sz="1500" dirty="0">
                <a:solidFill>
                  <a:srgbClr val="58595B"/>
                </a:solidFill>
              </a:rPr>
              <a:t>were dropped after testing. Guessing email formats was kept: 72% exact, against 59% by default.</a:t>
            </a:r>
            <a:endParaRPr lang="en-US" sz="1500" dirty="0">
              <a:solidFill>
                <a:srgbClr val="58595B"/>
              </a:solidFill>
            </a:endParaRPr>
          </a:p>
        </p:txBody>
      </p:sp>
      <p:sp>
        <p:nvSpPr>
          <p:cNvPr id="10" name="Slide Number Placeholder"/>
          <p:cNvSpPr>
            <a:spLocks noGrp="1"/>
          </p:cNvSpPr>
          <p:nvPr>
            <p:ph type="sldNum" sz="quarter" idx="12"/>
          </p:nvPr>
        </p:nvSpPr>
        <p:spPr/>
        <p:txBody>
          <a:bodyPr/>
          <a:lstStyle/>
          <a:p>
            <a:fld id="{0FF54DE5-C571-48E8-A5BC-B369434E2F44}" type="slidenum">
              <a:rPr lang="en-US"/>
              <a:t>7</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Each morning starts with who to call</a:t>
            </a:r>
          </a:p>
        </p:txBody>
      </p:sp>
      <p:pic>
        <p:nvPicPr>
          <p:cNvPr id="3" name="Today page screenshot" descr="Today page of PlacementRadar, contact details hidden"/>
          <p:cNvPicPr>
            <a:picLocks noChangeAspect="1"/>
          </p:cNvPicPr>
          <p:nvPr/>
        </p:nvPicPr>
        <p:blipFill>
          <a:blip r:embed="rId2"/>
          <a:stretch>
            <a:fillRect/>
          </a:stretch>
        </p:blipFill>
        <p:spPr>
          <a:xfrm>
            <a:off x="868680" y="1371600"/>
            <a:ext cx="7315200" cy="4572000"/>
          </a:xfrm>
          <a:prstGeom prst="rect">
            <a:avLst/>
          </a:prstGeom>
          <a:ln w="9525">
            <a:solidFill>
              <a:srgbClr val="D9D9D9"/>
            </a:solidFill>
          </a:ln>
        </p:spPr>
      </p:pic>
      <p:sp>
        <p:nvSpPr>
          <p:cNvPr id="4" name="Privacy note"/>
          <p:cNvSpPr txBox="1"/>
          <p:nvPr/>
        </p:nvSpPr>
        <p:spPr>
          <a:xfrm>
            <a:off x="868680" y="6016752"/>
            <a:ext cx="7315200" cy="274320"/>
          </a:xfrm>
          <a:prstGeom prst="rect">
            <a:avLst/>
          </a:prstGeom>
          <a:noFill/>
        </p:spPr>
        <p:txBody>
          <a:bodyPr wrap="square" lIns="0" tIns="0" rIns="0" bIns="0" anchor="t" rtlCol="0">
            <a:noAutofit/>
          </a:bodyPr>
          <a:lstStyle/>
          <a:p>
            <a:pPr algn="l">
              <a:buNone/>
            </a:pPr>
            <a:r>
              <a:rPr lang="en-US" sz="1100" i="1" dirty="0">
                <a:solidFill>
                  <a:srgbClr val="7F7F7F"/>
                </a:solidFill>
              </a:rPr>
              <a:t>Phone numbers and emails are hidden in all screenshots.</a:t>
            </a:r>
            <a:endParaRPr lang="en-US" sz="1100" i="1" dirty="0">
              <a:solidFill>
                <a:srgbClr val="7F7F7F"/>
              </a:solidFill>
            </a:endParaRPr>
          </a:p>
        </p:txBody>
      </p:sp>
      <p:sp>
        <p:nvSpPr>
          <p:cNvPr id="5" name="Annotation 1"/>
          <p:cNvSpPr txBox="1"/>
          <p:nvPr/>
        </p:nvSpPr>
        <p:spPr>
          <a:xfrm>
            <a:off x="8595360" y="1554480"/>
            <a:ext cx="3154680" cy="411480"/>
          </a:xfrm>
          <a:prstGeom prst="rect">
            <a:avLst/>
          </a:prstGeom>
          <a:noFill/>
        </p:spPr>
        <p:txBody>
          <a:bodyPr wrap="square" lIns="0" tIns="0" rIns="0" bIns="0" anchor="t" rtlCol="0">
            <a:noAutofit/>
          </a:bodyPr>
          <a:lstStyle/>
          <a:p>
            <a:pPr algn="l">
              <a:buNone/>
            </a:pPr>
            <a:r>
              <a:rPr lang="en-US" sz="1900" b="1" dirty="0">
                <a:solidFill>
                  <a:srgbClr val="231F20"/>
                </a:solidFill>
              </a:rPr>
              <a:t>Follow-ups due</a:t>
            </a:r>
            <a:endParaRPr lang="en-US" sz="1900" b="1" dirty="0">
              <a:solidFill>
                <a:srgbClr val="231F20"/>
              </a:solidFill>
            </a:endParaRPr>
          </a:p>
        </p:txBody>
      </p:sp>
      <p:sp>
        <p:nvSpPr>
          <p:cNvPr id="6" name="Annotation text 1"/>
          <p:cNvSpPr txBox="1"/>
          <p:nvPr/>
        </p:nvSpPr>
        <p:spPr>
          <a:xfrm>
            <a:off x="8595360" y="1993392"/>
            <a:ext cx="3154680" cy="777240"/>
          </a:xfrm>
          <a:prstGeom prst="rect">
            <a:avLst/>
          </a:prstGeom>
          <a:noFill/>
        </p:spPr>
        <p:txBody>
          <a:bodyPr wrap="square" lIns="0" tIns="0" rIns="0" bIns="0" anchor="t" rtlCol="0">
            <a:noAutofit/>
          </a:bodyPr>
          <a:lstStyle/>
          <a:p>
            <a:pPr algn="l">
              <a:buNone/>
            </a:pPr>
            <a:r>
              <a:rPr lang="en-US" sz="1500" dirty="0">
                <a:solidFill>
                  <a:srgbClr val="58595B"/>
                </a:solidFill>
              </a:rPr>
              <a:t>emailed 3+ days ago, no reply yet</a:t>
            </a:r>
            <a:endParaRPr lang="en-US" sz="1500" dirty="0">
              <a:solidFill>
                <a:srgbClr val="58595B"/>
              </a:solidFill>
            </a:endParaRPr>
          </a:p>
        </p:txBody>
      </p:sp>
      <p:sp>
        <p:nvSpPr>
          <p:cNvPr id="7" name="Annotation 2"/>
          <p:cNvSpPr txBox="1"/>
          <p:nvPr/>
        </p:nvSpPr>
        <p:spPr>
          <a:xfrm>
            <a:off x="8595360" y="2926080"/>
            <a:ext cx="3154680" cy="411480"/>
          </a:xfrm>
          <a:prstGeom prst="rect">
            <a:avLst/>
          </a:prstGeom>
          <a:noFill/>
        </p:spPr>
        <p:txBody>
          <a:bodyPr wrap="square" lIns="0" tIns="0" rIns="0" bIns="0" anchor="t" rtlCol="0">
            <a:noAutofit/>
          </a:bodyPr>
          <a:lstStyle/>
          <a:p>
            <a:pPr algn="l">
              <a:buNone/>
            </a:pPr>
            <a:r>
              <a:rPr lang="en-US" sz="1900" b="1" dirty="0">
                <a:solidFill>
                  <a:srgbClr val="231F20"/>
                </a:solidFill>
              </a:rPr>
              <a:t>Call next</a:t>
            </a:r>
            <a:endParaRPr lang="en-US" sz="1900" b="1" dirty="0">
              <a:solidFill>
                <a:srgbClr val="231F20"/>
              </a:solidFill>
            </a:endParaRPr>
          </a:p>
        </p:txBody>
      </p:sp>
      <p:sp>
        <p:nvSpPr>
          <p:cNvPr id="8" name="Annotation text 2"/>
          <p:cNvSpPr txBox="1"/>
          <p:nvPr/>
        </p:nvSpPr>
        <p:spPr>
          <a:xfrm>
            <a:off x="8595360" y="3364992"/>
            <a:ext cx="3154680" cy="777240"/>
          </a:xfrm>
          <a:prstGeom prst="rect">
            <a:avLst/>
          </a:prstGeom>
          <a:noFill/>
        </p:spPr>
        <p:txBody>
          <a:bodyPr wrap="square" lIns="0" tIns="0" rIns="0" bIns="0" anchor="t" rtlCol="0">
            <a:noAutofit/>
          </a:bodyPr>
          <a:lstStyle/>
          <a:p>
            <a:pPr algn="l">
              <a:buNone/>
            </a:pPr>
            <a:r>
              <a:rPr lang="en-US" sz="1500" dirty="0">
                <a:solidFill>
                  <a:srgbClr val="58595B"/>
                </a:solidFill>
              </a:rPr>
              <a:t>best contact details first, graded A to F</a:t>
            </a:r>
            <a:endParaRPr lang="en-US" sz="1500" dirty="0">
              <a:solidFill>
                <a:srgbClr val="58595B"/>
              </a:solidFill>
            </a:endParaRPr>
          </a:p>
        </p:txBody>
      </p:sp>
      <p:sp>
        <p:nvSpPr>
          <p:cNvPr id="9" name="Annotation 3"/>
          <p:cNvSpPr txBox="1"/>
          <p:nvPr/>
        </p:nvSpPr>
        <p:spPr>
          <a:xfrm>
            <a:off x="8595360" y="4297680"/>
            <a:ext cx="3154680" cy="411480"/>
          </a:xfrm>
          <a:prstGeom prst="rect">
            <a:avLst/>
          </a:prstGeom>
          <a:noFill/>
        </p:spPr>
        <p:txBody>
          <a:bodyPr wrap="square" lIns="0" tIns="0" rIns="0" bIns="0" anchor="t" rtlCol="0">
            <a:noAutofit/>
          </a:bodyPr>
          <a:lstStyle/>
          <a:p>
            <a:pPr algn="l">
              <a:buNone/>
            </a:pPr>
            <a:r>
              <a:rPr lang="en-US" sz="1900" b="1" dirty="0">
                <a:solidFill>
                  <a:srgbClr val="231F20"/>
                </a:solidFill>
              </a:rPr>
              <a:t>One tap</a:t>
            </a:r>
            <a:endParaRPr lang="en-US" sz="1900" b="1" dirty="0">
              <a:solidFill>
                <a:srgbClr val="231F20"/>
              </a:solidFill>
            </a:endParaRPr>
          </a:p>
        </p:txBody>
      </p:sp>
      <p:sp>
        <p:nvSpPr>
          <p:cNvPr id="10" name="Annotation text 3"/>
          <p:cNvSpPr txBox="1"/>
          <p:nvPr/>
        </p:nvSpPr>
        <p:spPr>
          <a:xfrm>
            <a:off x="8595360" y="4736592"/>
            <a:ext cx="3154680" cy="777240"/>
          </a:xfrm>
          <a:prstGeom prst="rect">
            <a:avLst/>
          </a:prstGeom>
          <a:noFill/>
        </p:spPr>
        <p:txBody>
          <a:bodyPr wrap="square" lIns="0" tIns="0" rIns="0" bIns="0" anchor="t" rtlCol="0">
            <a:noAutofit/>
          </a:bodyPr>
          <a:lstStyle/>
          <a:p>
            <a:pPr algn="l">
              <a:buNone/>
            </a:pPr>
            <a:r>
              <a:rPr lang="en-US" sz="1500" dirty="0">
                <a:solidFill>
                  <a:srgbClr val="58595B"/>
                </a:solidFill>
              </a:rPr>
              <a:t>Call, then log what happened</a:t>
            </a:r>
            <a:endParaRPr lang="en-US" sz="1500" dirty="0">
              <a:solidFill>
                <a:srgbClr val="58595B"/>
              </a:solidFill>
            </a:endParaRPr>
          </a:p>
        </p:txBody>
      </p:sp>
      <p:sp>
        <p:nvSpPr>
          <p:cNvPr id="11" name="Slide Number Placeholder"/>
          <p:cNvSpPr>
            <a:spLocks noGrp="1"/>
          </p:cNvSpPr>
          <p:nvPr>
            <p:ph type="sldNum" sz="quarter" idx="12"/>
          </p:nvPr>
        </p:nvSpPr>
        <p:spPr/>
        <p:txBody>
          <a:bodyPr/>
          <a:lstStyle/>
          <a:p>
            <a:fld id="{0FF54DE5-C571-48E8-A5BC-B369434E2F44}" type="slidenum">
              <a:rPr lang="en-US"/>
              <a:t>8</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Built for phones, where calls happen</a:t>
            </a:r>
          </a:p>
        </p:txBody>
      </p:sp>
      <p:sp>
        <p:nvSpPr>
          <p:cNvPr id="3" name="Phone text"/>
          <p:cNvSpPr txBox="1"/>
          <p:nvPr/>
        </p:nvSpPr>
        <p:spPr>
          <a:xfrm>
            <a:off x="868680" y="1600200"/>
            <a:ext cx="4937760" cy="3657600"/>
          </a:xfrm>
          <a:prstGeom prst="rect">
            <a:avLst/>
          </a:prstGeom>
          <a:noFill/>
        </p:spPr>
        <p:txBody>
          <a:bodyPr wrap="square" lIns="0" tIns="0" rIns="0" bIns="0" anchor="t" rtlCol="0">
            <a:noAutofit/>
          </a:bodyPr>
          <a:lstStyle/>
          <a:p>
            <a:pPr algn="l">
              <a:spcAft>
                <a:spcPts val="1600"/>
              </a:spcAft>
              <a:buNone/>
            </a:pPr>
            <a:r>
              <a:rPr lang="en-US" sz="1900" dirty="0">
                <a:solidFill>
                  <a:srgbClr val="58595B"/>
                </a:solidFill>
              </a:rPr>
              <a:t>Below 900 px the side menu becomes a drawer and tables become cards with full-width Call buttons.</a:t>
            </a:r>
            <a:endParaRPr lang="en-US" sz="1900" dirty="0">
              <a:solidFill>
                <a:srgbClr val="58595B"/>
              </a:solidFill>
            </a:endParaRPr>
          </a:p>
          <a:p>
            <a:pPr algn="l">
              <a:buNone/>
            </a:pPr>
            <a:r>
              <a:rPr lang="en-US" sz="1900" dirty="0">
                <a:solidFill>
                  <a:srgbClr val="58595B"/>
                </a:solidFill>
              </a:rPr>
              <a:t>The pipeline is shared: only a company's owner or an admin can move it, so two people never chase the same firm.</a:t>
            </a:r>
            <a:endParaRPr lang="en-US" sz="1900" dirty="0">
              <a:solidFill>
                <a:srgbClr val="58595B"/>
              </a:solidFill>
            </a:endParaRPr>
          </a:p>
        </p:txBody>
      </p:sp>
      <p:sp>
        <p:nvSpPr>
          <p:cNvPr id="4" name="Phone panel"/>
          <p:cNvSpPr/>
          <p:nvPr/>
        </p:nvSpPr>
        <p:spPr>
          <a:xfrm>
            <a:off x="6172200" y="1325880"/>
            <a:ext cx="5577840" cy="4617720"/>
          </a:xfrm>
          <a:prstGeom prst="roundRect">
            <a:avLst>
              <a:gd name="adj" fmla="val 4000"/>
            </a:avLst>
          </a:prstGeom>
          <a:solidFill>
            <a:srgbClr val="F2F2F2"/>
          </a:solidFill>
          <a:ln>
            <a:noFill/>
          </a:ln>
        </p:spPr>
      </p:sp>
      <p:pic>
        <p:nvPicPr>
          <p:cNvPr id="5" name="Phone screens" descr="Today, Pipeline and Log outcome on a phone, contact details hidden"/>
          <p:cNvPicPr>
            <a:picLocks noChangeAspect="1"/>
          </p:cNvPicPr>
          <p:nvPr/>
        </p:nvPicPr>
        <p:blipFill>
          <a:blip r:embed="rId2"/>
          <a:stretch>
            <a:fillRect/>
          </a:stretch>
        </p:blipFill>
        <p:spPr>
          <a:xfrm>
            <a:off x="6400800" y="1645920"/>
            <a:ext cx="5120640" cy="3516284"/>
          </a:xfrm>
          <a:prstGeom prst="rect">
            <a:avLst/>
          </a:prstGeom>
          <a:ln w="9525">
            <a:solidFill>
              <a:srgbClr val="D9D9D9"/>
            </a:solidFill>
          </a:ln>
        </p:spPr>
      </p:pic>
      <p:sp>
        <p:nvSpPr>
          <p:cNvPr id="6" name="Phone caption"/>
          <p:cNvSpPr txBox="1"/>
          <p:nvPr/>
        </p:nvSpPr>
        <p:spPr>
          <a:xfrm>
            <a:off x="6400800" y="5321808"/>
            <a:ext cx="5120640" cy="320040"/>
          </a:xfrm>
          <a:prstGeom prst="rect">
            <a:avLst/>
          </a:prstGeom>
          <a:noFill/>
        </p:spPr>
        <p:txBody>
          <a:bodyPr wrap="square" lIns="0" tIns="0" rIns="0" bIns="0" anchor="t" rtlCol="0">
            <a:noAutofit/>
          </a:bodyPr>
          <a:lstStyle/>
          <a:p>
            <a:pPr algn="l">
              <a:buNone/>
            </a:pPr>
            <a:r>
              <a:rPr lang="en-US" sz="1300" i="1" dirty="0">
                <a:solidFill>
                  <a:srgbClr val="58595B"/>
                </a:solidFill>
              </a:rPr>
              <a:t>Today, Pipeline and Log outcome on a phone</a:t>
            </a:r>
            <a:endParaRPr lang="en-US" sz="1300" i="1" dirty="0">
              <a:solidFill>
                <a:srgbClr val="58595B"/>
              </a:solidFill>
            </a:endParaRPr>
          </a:p>
        </p:txBody>
      </p:sp>
      <p:sp>
        <p:nvSpPr>
          <p:cNvPr id="7" name="Slide Number Placeholder"/>
          <p:cNvSpPr>
            <a:spLocks noGrp="1"/>
          </p:cNvSpPr>
          <p:nvPr>
            <p:ph type="sldNum" sz="quarter" idx="12"/>
          </p:nvPr>
        </p:nvSpPr>
        <p:spPr/>
        <p:txBody>
          <a:bodyPr/>
          <a:lstStyle/>
          <a:p>
            <a:fld id="{0FF54DE5-C571-48E8-A5BC-B369434E2F44}" type="slidenum">
              <a:rPr lang="en-US"/>
              <a:t>9</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 learned</a:t>
            </a:r>
          </a:p>
        </p:txBody>
      </p:sp>
      <p:sp>
        <p:nvSpPr>
          <p:cNvPr id="3" name="Main lesson"/>
          <p:cNvSpPr txBox="1"/>
          <p:nvPr/>
        </p:nvSpPr>
        <p:spPr>
          <a:xfrm>
            <a:off x="868680" y="1417320"/>
            <a:ext cx="10607040" cy="1737360"/>
          </a:xfrm>
          <a:prstGeom prst="rect">
            <a:avLst/>
          </a:prstGeom>
          <a:noFill/>
        </p:spPr>
        <p:txBody>
          <a:bodyPr wrap="square" lIns="0" tIns="0" rIns="0" bIns="0" anchor="t" rtlCol="0">
            <a:noAutofit/>
          </a:bodyPr>
          <a:lstStyle/>
          <a:p>
            <a:pPr algn="l">
              <a:buNone/>
            </a:pPr>
            <a:r>
              <a:rPr lang="en-US" sz="3000" dirty="0">
                <a:solidFill>
                  <a:srgbClr val="B7202E"/>
                </a:solidFill>
                <a:latin typeface="+mj-lt"/>
              </a:rPr>
              <a:t>“The totals kept saying the system worked, while individual records were wrong.”</a:t>
            </a:r>
            <a:endParaRPr lang="en-US" sz="3000" dirty="0">
              <a:solidFill>
                <a:srgbClr val="B7202E"/>
              </a:solidFill>
              <a:latin typeface="+mj-lt"/>
            </a:endParaRPr>
          </a:p>
        </p:txBody>
      </p:sp>
      <p:sp>
        <p:nvSpPr>
          <p:cNvPr id="4" name="Lesson 1"/>
          <p:cNvSpPr txBox="1"/>
          <p:nvPr/>
        </p:nvSpPr>
        <p:spPr>
          <a:xfrm>
            <a:off x="868680" y="3657600"/>
            <a:ext cx="3337560" cy="685800"/>
          </a:xfrm>
          <a:prstGeom prst="rect">
            <a:avLst/>
          </a:prstGeom>
          <a:noFill/>
        </p:spPr>
        <p:txBody>
          <a:bodyPr wrap="square" lIns="0" tIns="0" rIns="0" bIns="0" anchor="t" rtlCol="0">
            <a:noAutofit/>
          </a:bodyPr>
          <a:lstStyle/>
          <a:p>
            <a:pPr algn="l">
              <a:buNone/>
            </a:pPr>
            <a:r>
              <a:rPr lang="en-US" sz="1800" b="1" dirty="0">
                <a:solidFill>
                  <a:srgbClr val="231F20"/>
                </a:solidFill>
              </a:rPr>
              <a:t>HTTP 200 doesn't mean success</a:t>
            </a:r>
            <a:endParaRPr lang="en-US" sz="1800" b="1" dirty="0">
              <a:solidFill>
                <a:srgbClr val="231F20"/>
              </a:solidFill>
            </a:endParaRPr>
          </a:p>
        </p:txBody>
      </p:sp>
      <p:sp>
        <p:nvSpPr>
          <p:cNvPr id="5" name="Lesson text 1"/>
          <p:cNvSpPr txBox="1"/>
          <p:nvPr/>
        </p:nvSpPr>
        <p:spPr>
          <a:xfrm>
            <a:off x="868680" y="4389120"/>
            <a:ext cx="3291840" cy="1188720"/>
          </a:xfrm>
          <a:prstGeom prst="rect">
            <a:avLst/>
          </a:prstGeom>
          <a:noFill/>
        </p:spPr>
        <p:txBody>
          <a:bodyPr wrap="square" lIns="0" tIns="0" rIns="0" bIns="0" anchor="t" rtlCol="0">
            <a:noAutofit/>
          </a:bodyPr>
          <a:lstStyle/>
          <a:p>
            <a:pPr algn="l">
              <a:buNone/>
            </a:pPr>
            <a:r>
              <a:rPr lang="en-US" sz="1500" dirty="0">
                <a:solidFill>
                  <a:srgbClr val="58595B"/>
                </a:solidFill>
              </a:rPr>
              <a:t>Pages answered OK while showing a captcha, a generic list or a parked domain.</a:t>
            </a:r>
            <a:endParaRPr lang="en-US" sz="1500" dirty="0">
              <a:solidFill>
                <a:srgbClr val="58595B"/>
              </a:solidFill>
            </a:endParaRPr>
          </a:p>
        </p:txBody>
      </p:sp>
      <p:sp>
        <p:nvSpPr>
          <p:cNvPr id="6" name="Lesson 2"/>
          <p:cNvSpPr txBox="1"/>
          <p:nvPr/>
        </p:nvSpPr>
        <p:spPr>
          <a:xfrm>
            <a:off x="4480560" y="3657600"/>
            <a:ext cx="3337560" cy="685800"/>
          </a:xfrm>
          <a:prstGeom prst="rect">
            <a:avLst/>
          </a:prstGeom>
          <a:noFill/>
        </p:spPr>
        <p:txBody>
          <a:bodyPr wrap="square" lIns="0" tIns="0" rIns="0" bIns="0" anchor="t" rtlCol="0">
            <a:noAutofit/>
          </a:bodyPr>
          <a:lstStyle/>
          <a:p>
            <a:pPr algn="l">
              <a:buNone/>
            </a:pPr>
            <a:r>
              <a:rPr lang="en-US" sz="1800" b="1" dirty="0">
                <a:solidFill>
                  <a:srgbClr val="231F20"/>
                </a:solidFill>
              </a:rPr>
              <a:t>Validation can throw value away</a:t>
            </a:r>
            <a:endParaRPr lang="en-US" sz="1800" b="1" dirty="0">
              <a:solidFill>
                <a:srgbClr val="231F20"/>
              </a:solidFill>
            </a:endParaRPr>
          </a:p>
        </p:txBody>
      </p:sp>
      <p:sp>
        <p:nvSpPr>
          <p:cNvPr id="7" name="Lesson text 2"/>
          <p:cNvSpPr txBox="1"/>
          <p:nvPr/>
        </p:nvSpPr>
        <p:spPr>
          <a:xfrm>
            <a:off x="4480560" y="4389120"/>
            <a:ext cx="3291840" cy="1188720"/>
          </a:xfrm>
          <a:prstGeom prst="rect">
            <a:avLst/>
          </a:prstGeom>
          <a:noFill/>
        </p:spPr>
        <p:txBody>
          <a:bodyPr wrap="square" lIns="0" tIns="0" rIns="0" bIns="0" anchor="t" rtlCol="0">
            <a:noAutofit/>
          </a:bodyPr>
          <a:lstStyle/>
          <a:p>
            <a:pPr algn="l">
              <a:buNone/>
            </a:pPr>
            <a:r>
              <a:rPr lang="en-US" sz="1500" dirty="0">
                <a:solidFill>
                  <a:srgbClr val="58595B"/>
                </a:solidFill>
              </a:rPr>
              <a:t>Mobile-only phone checks silently rejected every office landline.</a:t>
            </a:r>
            <a:endParaRPr lang="en-US" sz="1500" dirty="0">
              <a:solidFill>
                <a:srgbClr val="58595B"/>
              </a:solidFill>
            </a:endParaRPr>
          </a:p>
        </p:txBody>
      </p:sp>
      <p:sp>
        <p:nvSpPr>
          <p:cNvPr id="8" name="Lesson 3"/>
          <p:cNvSpPr txBox="1"/>
          <p:nvPr/>
        </p:nvSpPr>
        <p:spPr>
          <a:xfrm>
            <a:off x="8092440" y="3657600"/>
            <a:ext cx="3337560" cy="685800"/>
          </a:xfrm>
          <a:prstGeom prst="rect">
            <a:avLst/>
          </a:prstGeom>
          <a:noFill/>
        </p:spPr>
        <p:txBody>
          <a:bodyPr wrap="square" lIns="0" tIns="0" rIns="0" bIns="0" anchor="t" rtlCol="0">
            <a:noAutofit/>
          </a:bodyPr>
          <a:lstStyle/>
          <a:p>
            <a:pPr algn="l">
              <a:buNone/>
            </a:pPr>
            <a:r>
              <a:rPr lang="en-US" sz="1800" b="1" dirty="0">
                <a:solidFill>
                  <a:srgbClr val="231F20"/>
                </a:solidFill>
              </a:rPr>
              <a:t>Measure before building</a:t>
            </a:r>
            <a:endParaRPr lang="en-US" sz="1800" b="1" dirty="0">
              <a:solidFill>
                <a:srgbClr val="231F20"/>
              </a:solidFill>
            </a:endParaRPr>
          </a:p>
        </p:txBody>
      </p:sp>
      <p:sp>
        <p:nvSpPr>
          <p:cNvPr id="9" name="Lesson text 3"/>
          <p:cNvSpPr txBox="1"/>
          <p:nvPr/>
        </p:nvSpPr>
        <p:spPr>
          <a:xfrm>
            <a:off x="8092440" y="4389120"/>
            <a:ext cx="3291840" cy="1188720"/>
          </a:xfrm>
          <a:prstGeom prst="rect">
            <a:avLst/>
          </a:prstGeom>
          <a:noFill/>
        </p:spPr>
        <p:txBody>
          <a:bodyPr wrap="square" lIns="0" tIns="0" rIns="0" bIns="0" anchor="t" rtlCol="0">
            <a:noAutofit/>
          </a:bodyPr>
          <a:lstStyle/>
          <a:p>
            <a:pPr algn="l">
              <a:buNone/>
            </a:pPr>
            <a:r>
              <a:rPr lang="en-US" sz="1500" dirty="0">
                <a:solidFill>
                  <a:srgbClr val="58595B"/>
                </a:solidFill>
              </a:rPr>
              <a:t>Testing first ruled out three sources that would never have worked.</a:t>
            </a:r>
            <a:endParaRPr lang="en-US" sz="1500" dirty="0">
              <a:solidFill>
                <a:srgbClr val="58595B"/>
              </a:solidFill>
            </a:endParaRPr>
          </a:p>
        </p:txBody>
      </p:sp>
      <p:sp>
        <p:nvSpPr>
          <p:cNvPr id="10" name="Slide Number Placeholder"/>
          <p:cNvSpPr>
            <a:spLocks noGrp="1"/>
          </p:cNvSpPr>
          <p:nvPr>
            <p:ph type="sldNum" sz="quarter" idx="12"/>
          </p:nvPr>
        </p:nvSpPr>
        <p:spPr/>
        <p:txBody>
          <a:bodyPr/>
          <a:lstStyle/>
          <a:p>
            <a:fld id="{0FF54DE5-C571-48E8-A5BC-B369434E2F44}" type="slidenum">
              <a:rPr lang="en-US"/>
              <a:t>10</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it stands, and what comes next</a:t>
            </a:r>
          </a:p>
        </p:txBody>
      </p:sp>
      <p:sp>
        <p:nvSpPr>
          <p:cNvPr id="3" name="Open heading"/>
          <p:cNvSpPr txBox="1"/>
          <p:nvPr/>
        </p:nvSpPr>
        <p:spPr>
          <a:xfrm>
            <a:off x="868680" y="1554480"/>
            <a:ext cx="5029200" cy="457200"/>
          </a:xfrm>
          <a:prstGeom prst="rect">
            <a:avLst/>
          </a:prstGeom>
          <a:noFill/>
        </p:spPr>
        <p:txBody>
          <a:bodyPr wrap="square" lIns="0" tIns="0" rIns="0" bIns="0" anchor="t" rtlCol="0">
            <a:noAutofit/>
          </a:bodyPr>
          <a:lstStyle/>
          <a:p>
            <a:pPr algn="l">
              <a:buNone/>
            </a:pPr>
            <a:r>
              <a:rPr lang="en-US" sz="2100" b="1" dirty="0">
                <a:solidFill>
                  <a:srgbClr val="B7202E"/>
                </a:solidFill>
              </a:rPr>
              <a:t>Still open</a:t>
            </a:r>
            <a:endParaRPr lang="en-US" sz="2100" b="1" dirty="0">
              <a:solidFill>
                <a:srgbClr val="B7202E"/>
              </a:solidFill>
            </a:endParaRPr>
          </a:p>
        </p:txBody>
      </p:sp>
      <p:sp>
        <p:nvSpPr>
          <p:cNvPr id="4" name="Open list"/>
          <p:cNvSpPr txBox="1"/>
          <p:nvPr/>
        </p:nvSpPr>
        <p:spPr>
          <a:xfrm>
            <a:off x="868680" y="2148840"/>
            <a:ext cx="5029200" cy="3474720"/>
          </a:xfrm>
          <a:prstGeom prst="rect">
            <a:avLst/>
          </a:prstGeom>
          <a:noFill/>
        </p:spPr>
        <p:txBody>
          <a:bodyPr wrap="square" lIns="0" tIns="0" rIns="0" bIns="0" anchor="t" rtlCol="0">
            <a:noAutofit/>
          </a:bodyPr>
          <a:lstStyle/>
          <a:p>
            <a:pPr algn="l" marL="285750" indent="-285750">
              <a:spcAft>
                <a:spcPts val="1200"/>
              </a:spcAft>
              <a:buClr>
                <a:srgbClr val="B7202E"/>
              </a:buClr>
              <a:buFont typeface="Arial"/>
              <a:buChar char="•"/>
            </a:pPr>
            <a:r>
              <a:rPr lang="en-US" sz="1700" dirty="0">
                <a:solidFill>
                  <a:srgbClr val="58595B"/>
                </a:solidFill>
              </a:rPr>
              <a:t>15 of 23 job boards return no jobs</a:t>
            </a:r>
            <a:endParaRPr lang="en-US" sz="1700" dirty="0">
              <a:solidFill>
                <a:srgbClr val="58595B"/>
              </a:solidFill>
            </a:endParaRPr>
          </a:p>
          <a:p>
            <a:pPr algn="l" marL="285750" indent="-285750">
              <a:spcAft>
                <a:spcPts val="1200"/>
              </a:spcAft>
              <a:buClr>
                <a:srgbClr val="B7202E"/>
              </a:buClr>
              <a:buFont typeface="Arial"/>
              <a:buChar char="•"/>
            </a:pPr>
            <a:r>
              <a:rPr lang="en-US" sz="1700" dirty="0">
                <a:solidFill>
                  <a:srgbClr val="58595B"/>
                </a:solidFill>
              </a:rPr>
              <a:t>The phone directories are blocked or outdated</a:t>
            </a:r>
            <a:endParaRPr lang="en-US" sz="1700" dirty="0">
              <a:solidFill>
                <a:srgbClr val="58595B"/>
              </a:solidFill>
            </a:endParaRPr>
          </a:p>
          <a:p>
            <a:pPr algn="l" marL="285750" indent="-285750">
              <a:spcAft>
                <a:spcPts val="1200"/>
              </a:spcAft>
              <a:buClr>
                <a:srgbClr val="B7202E"/>
              </a:buClr>
              <a:buFont typeface="Arial"/>
              <a:buChar char="•"/>
            </a:pPr>
            <a:r>
              <a:rPr lang="en-US" sz="1700" dirty="0">
                <a:solidFill>
                  <a:srgbClr val="58595B"/>
                </a:solidFill>
              </a:rPr>
              <a:t>103 contacts wait for human labels to set the score threshold</a:t>
            </a:r>
            <a:endParaRPr lang="en-US" sz="1700" dirty="0">
              <a:solidFill>
                <a:srgbClr val="58595B"/>
              </a:solidFill>
            </a:endParaRPr>
          </a:p>
          <a:p>
            <a:pPr algn="l" marL="285750" indent="-285750">
              <a:spcAft>
                <a:spcPts val="1200"/>
              </a:spcAft>
              <a:buClr>
                <a:srgbClr val="B7202E"/>
              </a:buClr>
              <a:buFont typeface="Arial"/>
              <a:buChar char="•"/>
            </a:pPr>
            <a:r>
              <a:rPr lang="en-US" sz="1700" dirty="0">
                <a:solidFill>
                  <a:srgbClr val="58595B"/>
                </a:solidFill>
              </a:rPr>
              <a:t>The new version runs locally; the live site is the older one</a:t>
            </a:r>
            <a:endParaRPr lang="en-US" sz="1700" dirty="0">
              <a:solidFill>
                <a:srgbClr val="58595B"/>
              </a:solidFill>
            </a:endParaRPr>
          </a:p>
        </p:txBody>
      </p:sp>
      <p:sp>
        <p:nvSpPr>
          <p:cNvPr id="5" name="Next heading"/>
          <p:cNvSpPr txBox="1"/>
          <p:nvPr/>
        </p:nvSpPr>
        <p:spPr>
          <a:xfrm>
            <a:off x="6400800" y="1554480"/>
            <a:ext cx="5120640" cy="457200"/>
          </a:xfrm>
          <a:prstGeom prst="rect">
            <a:avLst/>
          </a:prstGeom>
          <a:noFill/>
        </p:spPr>
        <p:txBody>
          <a:bodyPr wrap="square" lIns="0" tIns="0" rIns="0" bIns="0" anchor="t" rtlCol="0">
            <a:noAutofit/>
          </a:bodyPr>
          <a:lstStyle/>
          <a:p>
            <a:pPr algn="l">
              <a:buNone/>
            </a:pPr>
            <a:r>
              <a:rPr lang="en-US" sz="2100" b="1" dirty="0">
                <a:solidFill>
                  <a:srgbClr val="231F20"/>
                </a:solidFill>
              </a:rPr>
              <a:t>Next</a:t>
            </a:r>
            <a:endParaRPr lang="en-US" sz="2100" b="1" dirty="0">
              <a:solidFill>
                <a:srgbClr val="231F20"/>
              </a:solidFill>
            </a:endParaRPr>
          </a:p>
        </p:txBody>
      </p:sp>
      <p:sp>
        <p:nvSpPr>
          <p:cNvPr id="6" name="Next list"/>
          <p:cNvSpPr txBox="1"/>
          <p:nvPr/>
        </p:nvSpPr>
        <p:spPr>
          <a:xfrm>
            <a:off x="6400800" y="2148840"/>
            <a:ext cx="5120640" cy="3474720"/>
          </a:xfrm>
          <a:prstGeom prst="rect">
            <a:avLst/>
          </a:prstGeom>
          <a:noFill/>
        </p:spPr>
        <p:txBody>
          <a:bodyPr wrap="square" lIns="0" tIns="0" rIns="0" bIns="0" anchor="t" rtlCol="0">
            <a:noAutofit/>
          </a:bodyPr>
          <a:lstStyle/>
          <a:p>
            <a:pPr algn="l" marL="285750" indent="-285750">
              <a:spcAft>
                <a:spcPts val="1200"/>
              </a:spcAft>
              <a:buClr>
                <a:srgbClr val="B7202E"/>
              </a:buClr>
              <a:buFont typeface="Arial"/>
              <a:buChar char="•"/>
            </a:pPr>
            <a:r>
              <a:rPr lang="en-US" sz="1700" dirty="0">
                <a:solidFill>
                  <a:srgbClr val="58595B"/>
                </a:solidFill>
              </a:rPr>
              <a:t>Add 333 offices from OpenStreetMap, tagged as switchboard numbers</a:t>
            </a:r>
            <a:endParaRPr lang="en-US" sz="1700" dirty="0">
              <a:solidFill>
                <a:srgbClr val="58595B"/>
              </a:solidFill>
            </a:endParaRPr>
          </a:p>
          <a:p>
            <a:pPr algn="l" marL="285750" indent="-285750">
              <a:spcAft>
                <a:spcPts val="1200"/>
              </a:spcAft>
              <a:buClr>
                <a:srgbClr val="B7202E"/>
              </a:buClr>
              <a:buFont typeface="Arial"/>
              <a:buChar char="•"/>
            </a:pPr>
            <a:r>
              <a:rPr lang="en-US" sz="1700" dirty="0">
                <a:solidFill>
                  <a:srgbClr val="58595B"/>
                </a:solidFill>
              </a:rPr>
              <a:t>Match our alumni list to companies, within the DPDP Act</a:t>
            </a:r>
            <a:endParaRPr lang="en-US" sz="1700" dirty="0">
              <a:solidFill>
                <a:srgbClr val="58595B"/>
              </a:solidFill>
            </a:endParaRPr>
          </a:p>
          <a:p>
            <a:pPr algn="l" marL="285750" indent="-285750">
              <a:spcAft>
                <a:spcPts val="1200"/>
              </a:spcAft>
              <a:buClr>
                <a:srgbClr val="B7202E"/>
              </a:buClr>
              <a:buFont typeface="Arial"/>
              <a:buChar char="•"/>
            </a:pPr>
            <a:r>
              <a:rPr lang="en-US" sz="1700" dirty="0">
                <a:solidFill>
                  <a:srgbClr val="58595B"/>
                </a:solidFill>
              </a:rPr>
              <a:t>A student portal with resume-to-role matching</a:t>
            </a:r>
            <a:endParaRPr lang="en-US" sz="1700" dirty="0">
              <a:solidFill>
                <a:srgbClr val="58595B"/>
              </a:solidFill>
            </a:endParaRPr>
          </a:p>
          <a:p>
            <a:pPr algn="l" marL="285750" indent="-285750">
              <a:spcAft>
                <a:spcPts val="1200"/>
              </a:spcAft>
              <a:buClr>
                <a:srgbClr val="B7202E"/>
              </a:buClr>
              <a:buFont typeface="Arial"/>
              <a:buChar char="•"/>
            </a:pPr>
            <a:r>
              <a:rPr lang="en-US" sz="1700" dirty="0">
                <a:solidFill>
                  <a:srgbClr val="58595B"/>
                </a:solidFill>
              </a:rPr>
              <a:t>One shared setup that several colleges can use</a:t>
            </a:r>
            <a:endParaRPr lang="en-US" sz="1700" dirty="0">
              <a:solidFill>
                <a:srgbClr val="58595B"/>
              </a:solidFill>
            </a:endParaRPr>
          </a:p>
        </p:txBody>
      </p:sp>
      <p:sp>
        <p:nvSpPr>
          <p:cNvPr id="7" name="Slide Number Placeholder"/>
          <p:cNvSpPr>
            <a:spLocks noGrp="1"/>
          </p:cNvSpPr>
          <p:nvPr>
            <p:ph type="sldNum" sz="quarter" idx="12"/>
          </p:nvPr>
        </p:nvSpPr>
        <p:spPr/>
        <p:txBody>
          <a:bodyPr/>
          <a:lstStyle/>
          <a:p>
            <a:fld id="{0FF54DE5-C571-48E8-A5BC-B369434E2F44}" type="slidenum">
              <a:rPr lang="en-US"/>
              <a:t>11</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 J Somaiya Institute of Management PPT">
  <a:themeElements>
    <a:clrScheme name="Somaiya Brand Gudielines Colours">
      <a:dk1>
        <a:srgbClr val="231F20"/>
      </a:dk1>
      <a:lt1>
        <a:sysClr val="window" lastClr="FFFFFF"/>
      </a:lt1>
      <a:dk2>
        <a:srgbClr val="231F20"/>
      </a:dk2>
      <a:lt2>
        <a:srgbClr val="FFFFFF"/>
      </a:lt2>
      <a:accent1>
        <a:srgbClr val="B7202E"/>
      </a:accent1>
      <a:accent2>
        <a:srgbClr val="58595B"/>
      </a:accent2>
      <a:accent3>
        <a:srgbClr val="ED1C24"/>
      </a:accent3>
      <a:accent4>
        <a:srgbClr val="231F20"/>
      </a:accent4>
      <a:accent5>
        <a:srgbClr val="FDCB05"/>
      </a:accent5>
      <a:accent6>
        <a:srgbClr val="F58220"/>
      </a:accent6>
      <a:hlink>
        <a:srgbClr val="B7202E"/>
      </a:hlink>
      <a:folHlink>
        <a:srgbClr val="58595B"/>
      </a:folHlink>
    </a:clrScheme>
    <a:fontScheme name="Somaiya Vidyavihar Brand Fonts">
      <a:majorFont>
        <a:latin typeface="Marcellus"/>
        <a:ea typeface=""/>
        <a:cs typeface=""/>
      </a:majorFont>
      <a:minorFont>
        <a:latin typeface="Fira Sans"/>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725</TotalTime>
  <Words>15</Words>
  <Application>Microsoft Office PowerPoint</Application>
  <PresentationFormat>Widescreen</PresentationFormat>
  <Paragraphs>6</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Fira Sans</vt:lpstr>
      <vt:lpstr>Marcellus</vt:lpstr>
      <vt:lpstr>Wingdings</vt:lpstr>
      <vt:lpstr>K J Somaiya Institute of Management PPT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APD</dc:creator>
  <cp:lastModifiedBy>Sushma Gurav</cp:lastModifiedBy>
  <cp:revision>67</cp:revision>
  <dcterms:created xsi:type="dcterms:W3CDTF">2020-05-25T10:48:33Z</dcterms:created>
  <dcterms:modified xsi:type="dcterms:W3CDTF">2024-08-26T06:57:46Z</dcterms:modified>
</cp:coreProperties>
</file>